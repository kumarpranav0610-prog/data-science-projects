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6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A1A31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2A1A3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REPORT WALKTHROUGH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Domestic Violence Data Dashboard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page-by-page tour of every report page and visual in the .pbix file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Pages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91840" y="4297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9184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760720" y="4297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76072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6217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file: Data_visualation_pbix_project.pbix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This Report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is built on a single table, synthetic_domestic_violence_dataset, and is organized into five analytical pages — each built around one guiding question.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039112"/>
            <a:ext cx="457200" cy="457200"/>
          </a:xfrm>
          <a:prstGeom prst="ellipse">
            <a:avLst/>
          </a:prstGeom>
          <a:solidFill>
            <a:srgbClr val="3D264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234440" y="1965960"/>
            <a:ext cx="104241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08760" y="19659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Demographics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92040" y="196596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education and economic profile of victims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3D264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34440" y="2807208"/>
            <a:ext cx="104241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08760" y="280720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Violence Types &amp; Severity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92040" y="2807208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violence types and incident frequency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21608"/>
            <a:ext cx="457200" cy="457200"/>
          </a:xfrm>
          <a:prstGeom prst="ellipse">
            <a:avLst/>
          </a:prstGeom>
          <a:solidFill>
            <a:srgbClr val="3D264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234440" y="3648456"/>
            <a:ext cx="104241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508760" y="364845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Support Response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92040" y="3648456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incidents are reported, and medical assistance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562856"/>
            <a:ext cx="457200" cy="457200"/>
          </a:xfrm>
          <a:prstGeom prst="ellipse">
            <a:avLst/>
          </a:prstGeom>
          <a:solidFill>
            <a:srgbClr val="3D2645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234440" y="4489704"/>
            <a:ext cx="104241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08760" y="448970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Perpetrators &amp; Household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92040" y="4489704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Perpetrator relationships and household context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404104"/>
            <a:ext cx="457200" cy="457200"/>
          </a:xfrm>
          <a:prstGeom prst="ellipse">
            <a:avLst/>
          </a:prstGeom>
          <a:solidFill>
            <a:srgbClr val="3D2645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404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234440" y="5330952"/>
            <a:ext cx="104241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508760" y="533095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Service Utilization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892040" y="5330952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victims access support services, and why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Overview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Domestic Violence Dataset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3D26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Victim Demographics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victims — in terms of age, gender, education, and economic status?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SCREENSHOT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18120" y="126187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ON THIS PAGE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" y="1655903"/>
            <a:ext cx="7342632" cy="426857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E4DC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mnt/user-data/uploads/1782885438225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83919"/>
            <a:ext cx="7086600" cy="401253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18120" y="1572768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964424" y="1804111"/>
            <a:ext cx="329184" cy="329184"/>
          </a:xfrm>
          <a:prstGeom prst="ellipse">
            <a:avLst/>
          </a:prstGeom>
          <a:solidFill>
            <a:srgbClr val="3D2645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0" y="1886407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8421624" y="1645920"/>
            <a:ext cx="31638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— Victims by Gender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421624" y="1984541"/>
            <a:ext cx="31638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 of victims (case_id).</a:t>
            </a:r>
            <a:endParaRPr lang="en-US" sz="870" dirty="0"/>
          </a:p>
        </p:txBody>
      </p:sp>
      <p:sp>
        <p:nvSpPr>
          <p:cNvPr id="15" name="Shape 12"/>
          <p:cNvSpPr/>
          <p:nvPr/>
        </p:nvSpPr>
        <p:spPr>
          <a:xfrm>
            <a:off x="7818120" y="2483510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964424" y="2912364"/>
            <a:ext cx="78377" cy="131674"/>
          </a:xfrm>
          <a:prstGeom prst="rect">
            <a:avLst/>
          </a:prstGeom>
          <a:solidFill>
            <a:srgbClr val="8C6E93"/>
          </a:solidFill>
          <a:ln/>
        </p:spPr>
      </p:sp>
      <p:sp>
        <p:nvSpPr>
          <p:cNvPr id="17" name="Shape 14"/>
          <p:cNvSpPr/>
          <p:nvPr/>
        </p:nvSpPr>
        <p:spPr>
          <a:xfrm>
            <a:off x="8097665" y="2830068"/>
            <a:ext cx="78377" cy="213970"/>
          </a:xfrm>
          <a:prstGeom prst="rect">
            <a:avLst/>
          </a:prstGeom>
          <a:solidFill>
            <a:srgbClr val="8C6E93"/>
          </a:solidFill>
          <a:ln/>
        </p:spPr>
      </p:sp>
      <p:sp>
        <p:nvSpPr>
          <p:cNvPr id="18" name="Shape 15"/>
          <p:cNvSpPr/>
          <p:nvPr/>
        </p:nvSpPr>
        <p:spPr>
          <a:xfrm>
            <a:off x="8230906" y="2747772"/>
            <a:ext cx="78377" cy="296266"/>
          </a:xfrm>
          <a:prstGeom prst="rect">
            <a:avLst/>
          </a:prstGeom>
          <a:solidFill>
            <a:srgbClr val="8C6E93"/>
          </a:solidFill>
          <a:ln/>
        </p:spPr>
      </p:sp>
      <p:sp>
        <p:nvSpPr>
          <p:cNvPr id="19" name="Text 16"/>
          <p:cNvSpPr/>
          <p:nvPr/>
        </p:nvSpPr>
        <p:spPr>
          <a:xfrm>
            <a:off x="8421624" y="2556662"/>
            <a:ext cx="31638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— Education by Gender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421624" y="2895283"/>
            <a:ext cx="31638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level compared by gender.</a:t>
            </a:r>
            <a:endParaRPr lang="en-US" sz="870" dirty="0"/>
          </a:p>
        </p:txBody>
      </p:sp>
      <p:sp>
        <p:nvSpPr>
          <p:cNvPr id="21" name="Shape 18"/>
          <p:cNvSpPr/>
          <p:nvPr/>
        </p:nvSpPr>
        <p:spPr>
          <a:xfrm>
            <a:off x="7818120" y="3394253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964424" y="3823106"/>
            <a:ext cx="78377" cy="131674"/>
          </a:xfrm>
          <a:prstGeom prst="rect">
            <a:avLst/>
          </a:prstGeom>
          <a:solidFill>
            <a:srgbClr val="8C6E93"/>
          </a:solidFill>
          <a:ln/>
        </p:spPr>
      </p:sp>
      <p:sp>
        <p:nvSpPr>
          <p:cNvPr id="23" name="Shape 20"/>
          <p:cNvSpPr/>
          <p:nvPr/>
        </p:nvSpPr>
        <p:spPr>
          <a:xfrm>
            <a:off x="8097665" y="3740810"/>
            <a:ext cx="78377" cy="213970"/>
          </a:xfrm>
          <a:prstGeom prst="rect">
            <a:avLst/>
          </a:prstGeom>
          <a:solidFill>
            <a:srgbClr val="8C6E93"/>
          </a:solidFill>
          <a:ln/>
        </p:spPr>
      </p:sp>
      <p:sp>
        <p:nvSpPr>
          <p:cNvPr id="24" name="Shape 21"/>
          <p:cNvSpPr/>
          <p:nvPr/>
        </p:nvSpPr>
        <p:spPr>
          <a:xfrm>
            <a:off x="8230906" y="3658514"/>
            <a:ext cx="78377" cy="296266"/>
          </a:xfrm>
          <a:prstGeom prst="rect">
            <a:avLst/>
          </a:prstGeom>
          <a:solidFill>
            <a:srgbClr val="8C6E93"/>
          </a:solidFill>
          <a:ln/>
        </p:spPr>
      </p:sp>
      <p:sp>
        <p:nvSpPr>
          <p:cNvPr id="25" name="Text 22"/>
          <p:cNvSpPr/>
          <p:nvPr/>
        </p:nvSpPr>
        <p:spPr>
          <a:xfrm>
            <a:off x="8421624" y="3467405"/>
            <a:ext cx="31638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— Education by Gender (2)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421624" y="3806025"/>
            <a:ext cx="31638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cut of the same comparison.</a:t>
            </a:r>
            <a:endParaRPr lang="en-US" sz="870" dirty="0"/>
          </a:p>
        </p:txBody>
      </p:sp>
      <p:sp>
        <p:nvSpPr>
          <p:cNvPr id="27" name="Shape 24"/>
          <p:cNvSpPr/>
          <p:nvPr/>
        </p:nvSpPr>
        <p:spPr>
          <a:xfrm>
            <a:off x="7818120" y="4304995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964424" y="4733849"/>
            <a:ext cx="78377" cy="131674"/>
          </a:xfrm>
          <a:prstGeom prst="rect">
            <a:avLst/>
          </a:prstGeom>
          <a:solidFill>
            <a:srgbClr val="D4A94A"/>
          </a:solidFill>
          <a:ln/>
        </p:spPr>
      </p:sp>
      <p:sp>
        <p:nvSpPr>
          <p:cNvPr id="29" name="Shape 26"/>
          <p:cNvSpPr/>
          <p:nvPr/>
        </p:nvSpPr>
        <p:spPr>
          <a:xfrm>
            <a:off x="8097665" y="4651553"/>
            <a:ext cx="78377" cy="213970"/>
          </a:xfrm>
          <a:prstGeom prst="rect">
            <a:avLst/>
          </a:prstGeom>
          <a:solidFill>
            <a:srgbClr val="D4A94A"/>
          </a:solidFill>
          <a:ln/>
        </p:spPr>
      </p:sp>
      <p:sp>
        <p:nvSpPr>
          <p:cNvPr id="30" name="Shape 27"/>
          <p:cNvSpPr/>
          <p:nvPr/>
        </p:nvSpPr>
        <p:spPr>
          <a:xfrm>
            <a:off x="8230906" y="4569257"/>
            <a:ext cx="78377" cy="296266"/>
          </a:xfrm>
          <a:prstGeom prst="rect">
            <a:avLst/>
          </a:prstGeom>
          <a:solidFill>
            <a:srgbClr val="D4A94A"/>
          </a:solidFill>
          <a:ln/>
        </p:spPr>
      </p:sp>
      <p:sp>
        <p:nvSpPr>
          <p:cNvPr id="31" name="Text 28"/>
          <p:cNvSpPr/>
          <p:nvPr/>
        </p:nvSpPr>
        <p:spPr>
          <a:xfrm>
            <a:off x="8421624" y="4378147"/>
            <a:ext cx="31638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— Income by Employment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421624" y="4716768"/>
            <a:ext cx="31638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income by employment status.</a:t>
            </a:r>
            <a:endParaRPr lang="en-US" sz="870" dirty="0"/>
          </a:p>
        </p:txBody>
      </p:sp>
      <p:sp>
        <p:nvSpPr>
          <p:cNvPr id="33" name="Shape 30"/>
          <p:cNvSpPr/>
          <p:nvPr/>
        </p:nvSpPr>
        <p:spPr>
          <a:xfrm>
            <a:off x="7818120" y="5215738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964424" y="5447081"/>
            <a:ext cx="162946" cy="103693"/>
          </a:xfrm>
          <a:prstGeom prst="rect">
            <a:avLst/>
          </a:prstGeom>
          <a:solidFill>
            <a:srgbClr val="3D26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964424" y="5582869"/>
            <a:ext cx="162946" cy="177759"/>
          </a:xfrm>
          <a:prstGeom prst="rect">
            <a:avLst/>
          </a:prstGeom>
          <a:solidFill>
            <a:srgbClr val="8C6E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162757" y="5447081"/>
            <a:ext cx="118506" cy="103693"/>
          </a:xfrm>
          <a:prstGeom prst="rect">
            <a:avLst/>
          </a:prstGeom>
          <a:solidFill>
            <a:srgbClr val="3D26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162757" y="5582869"/>
            <a:ext cx="118506" cy="177759"/>
          </a:xfrm>
          <a:prstGeom prst="rect">
            <a:avLst/>
          </a:prstGeom>
          <a:solidFill>
            <a:srgbClr val="8C6E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421624" y="5288890"/>
            <a:ext cx="31638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— Victim Gender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8421624" y="5627510"/>
            <a:ext cx="31638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list of gender categories.</a:t>
            </a:r>
            <a:endParaRPr lang="en-US" sz="870" dirty="0"/>
          </a:p>
        </p:txBody>
      </p:sp>
      <p:sp>
        <p:nvSpPr>
          <p:cNvPr id="40" name="Text 3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5 — Victim Demographics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Domestic Violence Dataset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3D26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Violence Types &amp; Severity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types of violence occur most often, and how frequent/severe are incidents?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SCREENSHOT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18120" y="126187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ON THIS PAGE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" y="1694880"/>
            <a:ext cx="7342632" cy="4190617"/>
          </a:xfrm>
          <a:prstGeom prst="roundRect">
            <a:avLst>
              <a:gd name="adj" fmla="val 1091"/>
            </a:avLst>
          </a:prstGeom>
          <a:solidFill>
            <a:srgbClr val="FFFFFF"/>
          </a:solidFill>
          <a:ln w="12700">
            <a:solidFill>
              <a:srgbClr val="E4DC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mnt/user-data/uploads/1782885463063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2896"/>
            <a:ext cx="7086600" cy="393458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18120" y="1572768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964424" y="2001622"/>
            <a:ext cx="78377" cy="131674"/>
          </a:xfrm>
          <a:prstGeom prst="rect">
            <a:avLst/>
          </a:prstGeom>
          <a:solidFill>
            <a:srgbClr val="3D2645"/>
          </a:solidFill>
          <a:ln/>
        </p:spPr>
      </p:sp>
      <p:sp>
        <p:nvSpPr>
          <p:cNvPr id="12" name="Shape 9"/>
          <p:cNvSpPr/>
          <p:nvPr/>
        </p:nvSpPr>
        <p:spPr>
          <a:xfrm>
            <a:off x="8097665" y="1919326"/>
            <a:ext cx="78377" cy="213970"/>
          </a:xfrm>
          <a:prstGeom prst="rect">
            <a:avLst/>
          </a:prstGeom>
          <a:solidFill>
            <a:srgbClr val="3D2645"/>
          </a:solidFill>
          <a:ln/>
        </p:spPr>
      </p:sp>
      <p:sp>
        <p:nvSpPr>
          <p:cNvPr id="13" name="Shape 10"/>
          <p:cNvSpPr/>
          <p:nvPr/>
        </p:nvSpPr>
        <p:spPr>
          <a:xfrm>
            <a:off x="8230906" y="1837030"/>
            <a:ext cx="78377" cy="296266"/>
          </a:xfrm>
          <a:prstGeom prst="rect">
            <a:avLst/>
          </a:prstGeom>
          <a:solidFill>
            <a:srgbClr val="3D2645"/>
          </a:solidFill>
          <a:ln/>
        </p:spPr>
      </p:sp>
      <p:sp>
        <p:nvSpPr>
          <p:cNvPr id="14" name="Text 11"/>
          <p:cNvSpPr/>
          <p:nvPr/>
        </p:nvSpPr>
        <p:spPr>
          <a:xfrm>
            <a:off x="8421624" y="1645920"/>
            <a:ext cx="31638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Stacked Bar — Violence Type Share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421624" y="1984541"/>
            <a:ext cx="31638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total cases by violence type.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7818120" y="2483510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980883" y="2928823"/>
            <a:ext cx="65837" cy="65837"/>
          </a:xfrm>
          <a:prstGeom prst="ellipse">
            <a:avLst/>
          </a:prstGeom>
          <a:solidFill>
            <a:srgbClr val="8C6E93"/>
          </a:solidFill>
          <a:ln/>
        </p:spPr>
      </p:sp>
      <p:sp>
        <p:nvSpPr>
          <p:cNvPr id="18" name="Shape 15"/>
          <p:cNvSpPr/>
          <p:nvPr/>
        </p:nvSpPr>
        <p:spPr>
          <a:xfrm>
            <a:off x="8079638" y="2813609"/>
            <a:ext cx="65837" cy="65837"/>
          </a:xfrm>
          <a:prstGeom prst="ellipse">
            <a:avLst/>
          </a:prstGeom>
          <a:solidFill>
            <a:srgbClr val="8C6E93"/>
          </a:solidFill>
          <a:ln/>
        </p:spPr>
      </p:sp>
      <p:sp>
        <p:nvSpPr>
          <p:cNvPr id="19" name="Shape 16"/>
          <p:cNvSpPr/>
          <p:nvPr/>
        </p:nvSpPr>
        <p:spPr>
          <a:xfrm>
            <a:off x="8161934" y="2961742"/>
            <a:ext cx="65837" cy="65837"/>
          </a:xfrm>
          <a:prstGeom prst="ellipse">
            <a:avLst/>
          </a:prstGeom>
          <a:solidFill>
            <a:srgbClr val="8C6E93"/>
          </a:solidFill>
          <a:ln/>
        </p:spPr>
      </p:sp>
      <p:sp>
        <p:nvSpPr>
          <p:cNvPr id="20" name="Shape 17"/>
          <p:cNvSpPr/>
          <p:nvPr/>
        </p:nvSpPr>
        <p:spPr>
          <a:xfrm>
            <a:off x="8244230" y="2764231"/>
            <a:ext cx="65837" cy="65837"/>
          </a:xfrm>
          <a:prstGeom prst="ellipse">
            <a:avLst/>
          </a:prstGeom>
          <a:solidFill>
            <a:srgbClr val="8C6E93"/>
          </a:solidFill>
          <a:ln/>
        </p:spPr>
      </p:sp>
      <p:sp>
        <p:nvSpPr>
          <p:cNvPr id="21" name="Text 18"/>
          <p:cNvSpPr/>
          <p:nvPr/>
        </p:nvSpPr>
        <p:spPr>
          <a:xfrm>
            <a:off x="8421624" y="2556662"/>
            <a:ext cx="31638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— Frequency vs Age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421624" y="2895283"/>
            <a:ext cx="31638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frequency vs victim age.</a:t>
            </a:r>
            <a:endParaRPr lang="en-US" sz="870" dirty="0"/>
          </a:p>
        </p:txBody>
      </p:sp>
      <p:sp>
        <p:nvSpPr>
          <p:cNvPr id="23" name="Shape 20"/>
          <p:cNvSpPr/>
          <p:nvPr/>
        </p:nvSpPr>
        <p:spPr>
          <a:xfrm>
            <a:off x="7818120" y="3394253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964424" y="3823106"/>
            <a:ext cx="78377" cy="131674"/>
          </a:xfrm>
          <a:prstGeom prst="rect">
            <a:avLst/>
          </a:prstGeom>
          <a:solidFill>
            <a:srgbClr val="D4A94A"/>
          </a:solidFill>
          <a:ln/>
        </p:spPr>
      </p:sp>
      <p:sp>
        <p:nvSpPr>
          <p:cNvPr id="25" name="Shape 22"/>
          <p:cNvSpPr/>
          <p:nvPr/>
        </p:nvSpPr>
        <p:spPr>
          <a:xfrm>
            <a:off x="8097665" y="3740810"/>
            <a:ext cx="78377" cy="213970"/>
          </a:xfrm>
          <a:prstGeom prst="rect">
            <a:avLst/>
          </a:prstGeom>
          <a:solidFill>
            <a:srgbClr val="D4A94A"/>
          </a:solidFill>
          <a:ln/>
        </p:spPr>
      </p:sp>
      <p:sp>
        <p:nvSpPr>
          <p:cNvPr id="26" name="Shape 23"/>
          <p:cNvSpPr/>
          <p:nvPr/>
        </p:nvSpPr>
        <p:spPr>
          <a:xfrm>
            <a:off x="8230906" y="3658514"/>
            <a:ext cx="78377" cy="296266"/>
          </a:xfrm>
          <a:prstGeom prst="rect">
            <a:avLst/>
          </a:prstGeom>
          <a:solidFill>
            <a:srgbClr val="D4A94A"/>
          </a:solidFill>
          <a:ln/>
        </p:spPr>
      </p:sp>
      <p:sp>
        <p:nvSpPr>
          <p:cNvPr id="27" name="Text 24"/>
          <p:cNvSpPr/>
          <p:nvPr/>
        </p:nvSpPr>
        <p:spPr>
          <a:xfrm>
            <a:off x="8421624" y="3467405"/>
            <a:ext cx="31638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Stacked Column — Medical Assistance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421624" y="3806025"/>
            <a:ext cx="31638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aid needed, by violence type.</a:t>
            </a:r>
            <a:endParaRPr lang="en-US" sz="870" dirty="0"/>
          </a:p>
        </p:txBody>
      </p:sp>
      <p:sp>
        <p:nvSpPr>
          <p:cNvPr id="29" name="Shape 26"/>
          <p:cNvSpPr/>
          <p:nvPr/>
        </p:nvSpPr>
        <p:spPr>
          <a:xfrm>
            <a:off x="7818120" y="4304995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964424" y="4536338"/>
            <a:ext cx="329184" cy="329184"/>
          </a:xfrm>
          <a:prstGeom prst="ellipse">
            <a:avLst/>
          </a:prstGeom>
          <a:solidFill>
            <a:srgbClr val="3D2645"/>
          </a:solidFill>
          <a:ln/>
        </p:spPr>
      </p:sp>
      <p:sp>
        <p:nvSpPr>
          <p:cNvPr id="31" name="Text 28"/>
          <p:cNvSpPr/>
          <p:nvPr/>
        </p:nvSpPr>
        <p:spPr>
          <a:xfrm>
            <a:off x="7964424" y="45363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421624" y="4378147"/>
            <a:ext cx="31638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— Total Case Count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8421624" y="4716768"/>
            <a:ext cx="31638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KPI, filtered by slicer.</a:t>
            </a:r>
            <a:endParaRPr lang="en-US" sz="870" dirty="0"/>
          </a:p>
        </p:txBody>
      </p:sp>
      <p:sp>
        <p:nvSpPr>
          <p:cNvPr id="34" name="Shape 31"/>
          <p:cNvSpPr/>
          <p:nvPr/>
        </p:nvSpPr>
        <p:spPr>
          <a:xfrm>
            <a:off x="7818120" y="5215738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964424" y="5447081"/>
            <a:ext cx="329184" cy="52669"/>
          </a:xfrm>
          <a:prstGeom prst="rect">
            <a:avLst/>
          </a:prstGeom>
          <a:solidFill>
            <a:srgbClr val="8C6E93"/>
          </a:solidFill>
          <a:ln/>
        </p:spPr>
      </p:sp>
      <p:sp>
        <p:nvSpPr>
          <p:cNvPr id="36" name="Shape 33"/>
          <p:cNvSpPr/>
          <p:nvPr/>
        </p:nvSpPr>
        <p:spPr>
          <a:xfrm>
            <a:off x="8022031" y="5545836"/>
            <a:ext cx="213970" cy="52669"/>
          </a:xfrm>
          <a:prstGeom prst="rect">
            <a:avLst/>
          </a:prstGeom>
          <a:solidFill>
            <a:srgbClr val="8C6E93"/>
          </a:solidFill>
          <a:ln/>
        </p:spPr>
      </p:sp>
      <p:sp>
        <p:nvSpPr>
          <p:cNvPr id="37" name="Shape 34"/>
          <p:cNvSpPr/>
          <p:nvPr/>
        </p:nvSpPr>
        <p:spPr>
          <a:xfrm>
            <a:off x="8076347" y="5644591"/>
            <a:ext cx="105339" cy="52669"/>
          </a:xfrm>
          <a:prstGeom prst="rect">
            <a:avLst/>
          </a:prstGeom>
          <a:solidFill>
            <a:srgbClr val="8C6E93"/>
          </a:solidFill>
          <a:ln/>
        </p:spPr>
      </p:sp>
      <p:sp>
        <p:nvSpPr>
          <p:cNvPr id="38" name="Text 35"/>
          <p:cNvSpPr/>
          <p:nvPr/>
        </p:nvSpPr>
        <p:spPr>
          <a:xfrm>
            <a:off x="8421624" y="5288890"/>
            <a:ext cx="31638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— Violence Type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8421624" y="5627510"/>
            <a:ext cx="31638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the whole page.</a:t>
            </a:r>
            <a:endParaRPr lang="en-US" sz="870" dirty="0"/>
          </a:p>
        </p:txBody>
      </p:sp>
      <p:sp>
        <p:nvSpPr>
          <p:cNvPr id="40" name="Text 3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5 — Violence Types &amp; Severity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Domestic Violence Dataset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3D26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&amp; Support Response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is violence reported to authorities, and how does that relate to medical assistance and support use?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SCREENSHOT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18120" y="126187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ON THIS PAGE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" y="1691626"/>
            <a:ext cx="7342632" cy="4197125"/>
          </a:xfrm>
          <a:prstGeom prst="roundRect">
            <a:avLst>
              <a:gd name="adj" fmla="val 1089"/>
            </a:avLst>
          </a:prstGeom>
          <a:solidFill>
            <a:srgbClr val="FFFFFF"/>
          </a:solidFill>
          <a:ln w="12700">
            <a:solidFill>
              <a:srgbClr val="E4DC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mnt/user-data/uploads/1782885493292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19642"/>
            <a:ext cx="7086600" cy="394109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18120" y="1572768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964424" y="1804111"/>
            <a:ext cx="329184" cy="329184"/>
          </a:xfrm>
          <a:prstGeom prst="ellipse">
            <a:avLst/>
          </a:prstGeom>
          <a:solidFill>
            <a:srgbClr val="3D2645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0" y="1886407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8421624" y="1645920"/>
            <a:ext cx="31638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— Reported to Authorities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421624" y="1984541"/>
            <a:ext cx="31638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cases reported vs not.</a:t>
            </a:r>
            <a:endParaRPr lang="en-US" sz="870" dirty="0"/>
          </a:p>
        </p:txBody>
      </p:sp>
      <p:sp>
        <p:nvSpPr>
          <p:cNvPr id="15" name="Shape 12"/>
          <p:cNvSpPr/>
          <p:nvPr/>
        </p:nvSpPr>
        <p:spPr>
          <a:xfrm>
            <a:off x="7818120" y="2483510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964424" y="2912364"/>
            <a:ext cx="78377" cy="131674"/>
          </a:xfrm>
          <a:prstGeom prst="rect">
            <a:avLst/>
          </a:prstGeom>
          <a:solidFill>
            <a:srgbClr val="8C6E93"/>
          </a:solidFill>
          <a:ln/>
        </p:spPr>
      </p:sp>
      <p:sp>
        <p:nvSpPr>
          <p:cNvPr id="17" name="Shape 14"/>
          <p:cNvSpPr/>
          <p:nvPr/>
        </p:nvSpPr>
        <p:spPr>
          <a:xfrm>
            <a:off x="8097665" y="2830068"/>
            <a:ext cx="78377" cy="213970"/>
          </a:xfrm>
          <a:prstGeom prst="rect">
            <a:avLst/>
          </a:prstGeom>
          <a:solidFill>
            <a:srgbClr val="8C6E93"/>
          </a:solidFill>
          <a:ln/>
        </p:spPr>
      </p:sp>
      <p:sp>
        <p:nvSpPr>
          <p:cNvPr id="18" name="Shape 15"/>
          <p:cNvSpPr/>
          <p:nvPr/>
        </p:nvSpPr>
        <p:spPr>
          <a:xfrm>
            <a:off x="8230906" y="2747772"/>
            <a:ext cx="78377" cy="296266"/>
          </a:xfrm>
          <a:prstGeom prst="rect">
            <a:avLst/>
          </a:prstGeom>
          <a:solidFill>
            <a:srgbClr val="8C6E93"/>
          </a:solidFill>
          <a:ln/>
        </p:spPr>
      </p:sp>
      <p:sp>
        <p:nvSpPr>
          <p:cNvPr id="19" name="Text 16"/>
          <p:cNvSpPr/>
          <p:nvPr/>
        </p:nvSpPr>
        <p:spPr>
          <a:xfrm>
            <a:off x="8421624" y="2556662"/>
            <a:ext cx="31638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— Cases by Type &amp; Reporting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421624" y="2895283"/>
            <a:ext cx="31638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behavior by violence type.</a:t>
            </a:r>
            <a:endParaRPr lang="en-US" sz="870" dirty="0"/>
          </a:p>
        </p:txBody>
      </p:sp>
      <p:sp>
        <p:nvSpPr>
          <p:cNvPr id="21" name="Shape 18"/>
          <p:cNvSpPr/>
          <p:nvPr/>
        </p:nvSpPr>
        <p:spPr>
          <a:xfrm>
            <a:off x="7818120" y="3394253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964424" y="3823106"/>
            <a:ext cx="78377" cy="131674"/>
          </a:xfrm>
          <a:prstGeom prst="rect">
            <a:avLst/>
          </a:prstGeom>
          <a:solidFill>
            <a:srgbClr val="D4A94A"/>
          </a:solidFill>
          <a:ln/>
        </p:spPr>
      </p:sp>
      <p:sp>
        <p:nvSpPr>
          <p:cNvPr id="23" name="Shape 20"/>
          <p:cNvSpPr/>
          <p:nvPr/>
        </p:nvSpPr>
        <p:spPr>
          <a:xfrm>
            <a:off x="8097665" y="3740810"/>
            <a:ext cx="78377" cy="213970"/>
          </a:xfrm>
          <a:prstGeom prst="rect">
            <a:avLst/>
          </a:prstGeom>
          <a:solidFill>
            <a:srgbClr val="D4A94A"/>
          </a:solidFill>
          <a:ln/>
        </p:spPr>
      </p:sp>
      <p:sp>
        <p:nvSpPr>
          <p:cNvPr id="24" name="Shape 21"/>
          <p:cNvSpPr/>
          <p:nvPr/>
        </p:nvSpPr>
        <p:spPr>
          <a:xfrm>
            <a:off x="8230906" y="3658514"/>
            <a:ext cx="78377" cy="296266"/>
          </a:xfrm>
          <a:prstGeom prst="rect">
            <a:avLst/>
          </a:prstGeom>
          <a:solidFill>
            <a:srgbClr val="D4A94A"/>
          </a:solidFill>
          <a:ln/>
        </p:spPr>
      </p:sp>
      <p:sp>
        <p:nvSpPr>
          <p:cNvPr id="25" name="Text 22"/>
          <p:cNvSpPr/>
          <p:nvPr/>
        </p:nvSpPr>
        <p:spPr>
          <a:xfrm>
            <a:off x="8421624" y="3467405"/>
            <a:ext cx="31638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Column — Reporting vs Medical Aid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421624" y="3806025"/>
            <a:ext cx="31638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crossed with medical need.</a:t>
            </a:r>
            <a:endParaRPr lang="en-US" sz="870" dirty="0"/>
          </a:p>
        </p:txBody>
      </p:sp>
      <p:sp>
        <p:nvSpPr>
          <p:cNvPr id="27" name="Shape 24"/>
          <p:cNvSpPr/>
          <p:nvPr/>
        </p:nvSpPr>
        <p:spPr>
          <a:xfrm>
            <a:off x="7818120" y="4304995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964424" y="4536338"/>
            <a:ext cx="162946" cy="103693"/>
          </a:xfrm>
          <a:prstGeom prst="rect">
            <a:avLst/>
          </a:prstGeom>
          <a:solidFill>
            <a:srgbClr val="3D26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64424" y="4672127"/>
            <a:ext cx="162946" cy="177759"/>
          </a:xfrm>
          <a:prstGeom prst="rect">
            <a:avLst/>
          </a:prstGeom>
          <a:solidFill>
            <a:srgbClr val="8C6E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162757" y="4536338"/>
            <a:ext cx="118506" cy="103693"/>
          </a:xfrm>
          <a:prstGeom prst="rect">
            <a:avLst/>
          </a:prstGeom>
          <a:solidFill>
            <a:srgbClr val="3D26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162757" y="4672127"/>
            <a:ext cx="118506" cy="177759"/>
          </a:xfrm>
          <a:prstGeom prst="rect">
            <a:avLst/>
          </a:prstGeom>
          <a:solidFill>
            <a:srgbClr val="8C6E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421624" y="4378147"/>
            <a:ext cx="31638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 — Residence x Reporting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8421624" y="4716768"/>
            <a:ext cx="31638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rates by residence type.</a:t>
            </a:r>
            <a:endParaRPr lang="en-US" sz="870" dirty="0"/>
          </a:p>
        </p:txBody>
      </p:sp>
      <p:sp>
        <p:nvSpPr>
          <p:cNvPr id="34" name="Shape 31"/>
          <p:cNvSpPr/>
          <p:nvPr/>
        </p:nvSpPr>
        <p:spPr>
          <a:xfrm>
            <a:off x="7818120" y="5215738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964424" y="5447081"/>
            <a:ext cx="329184" cy="52669"/>
          </a:xfrm>
          <a:prstGeom prst="rect">
            <a:avLst/>
          </a:prstGeom>
          <a:solidFill>
            <a:srgbClr val="8C6E93"/>
          </a:solidFill>
          <a:ln/>
        </p:spPr>
      </p:sp>
      <p:sp>
        <p:nvSpPr>
          <p:cNvPr id="36" name="Shape 33"/>
          <p:cNvSpPr/>
          <p:nvPr/>
        </p:nvSpPr>
        <p:spPr>
          <a:xfrm>
            <a:off x="8022031" y="5545836"/>
            <a:ext cx="213970" cy="52669"/>
          </a:xfrm>
          <a:prstGeom prst="rect">
            <a:avLst/>
          </a:prstGeom>
          <a:solidFill>
            <a:srgbClr val="8C6E93"/>
          </a:solidFill>
          <a:ln/>
        </p:spPr>
      </p:sp>
      <p:sp>
        <p:nvSpPr>
          <p:cNvPr id="37" name="Shape 34"/>
          <p:cNvSpPr/>
          <p:nvPr/>
        </p:nvSpPr>
        <p:spPr>
          <a:xfrm>
            <a:off x="8076347" y="5644591"/>
            <a:ext cx="105339" cy="52669"/>
          </a:xfrm>
          <a:prstGeom prst="rect">
            <a:avLst/>
          </a:prstGeom>
          <a:solidFill>
            <a:srgbClr val="8C6E93"/>
          </a:solidFill>
          <a:ln/>
        </p:spPr>
      </p:sp>
      <p:sp>
        <p:nvSpPr>
          <p:cNvPr id="38" name="Text 35"/>
          <p:cNvSpPr/>
          <p:nvPr/>
        </p:nvSpPr>
        <p:spPr>
          <a:xfrm>
            <a:off x="8421624" y="5288890"/>
            <a:ext cx="31638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— Medical Assistance Required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8421624" y="5627510"/>
            <a:ext cx="31638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the whole page.</a:t>
            </a:r>
            <a:endParaRPr lang="en-US" sz="870" dirty="0"/>
          </a:p>
        </p:txBody>
      </p:sp>
      <p:sp>
        <p:nvSpPr>
          <p:cNvPr id="40" name="Text 3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5 — Reporting &amp; Support Response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Domestic Violence Dataset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3D26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Perpetrators &amp; Household Context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perpetrators, and how does household context (children, residence, income) relate to abuse?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SCREENSHOT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18120" y="126187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ON THIS PAGE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" y="1686381"/>
            <a:ext cx="7342632" cy="4207613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12700">
            <a:solidFill>
              <a:srgbClr val="E4DC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mnt/user-data/uploads/1782885521746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14397"/>
            <a:ext cx="7086600" cy="395158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18120" y="1572768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964424" y="1804111"/>
            <a:ext cx="162946" cy="103693"/>
          </a:xfrm>
          <a:prstGeom prst="rect">
            <a:avLst/>
          </a:prstGeom>
          <a:solidFill>
            <a:srgbClr val="3D26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964424" y="1939900"/>
            <a:ext cx="162946" cy="177759"/>
          </a:xfrm>
          <a:prstGeom prst="rect">
            <a:avLst/>
          </a:prstGeom>
          <a:solidFill>
            <a:srgbClr val="8C6E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62757" y="1804111"/>
            <a:ext cx="118506" cy="103693"/>
          </a:xfrm>
          <a:prstGeom prst="rect">
            <a:avLst/>
          </a:prstGeom>
          <a:solidFill>
            <a:srgbClr val="3D26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62757" y="1939900"/>
            <a:ext cx="118506" cy="177759"/>
          </a:xfrm>
          <a:prstGeom prst="rect">
            <a:avLst/>
          </a:prstGeom>
          <a:solidFill>
            <a:srgbClr val="8C6E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21624" y="1645920"/>
            <a:ext cx="31638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 — Perpetrator Relationship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421624" y="1984541"/>
            <a:ext cx="31638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each perpetrator type.</a:t>
            </a:r>
            <a:endParaRPr lang="en-US" sz="870" dirty="0"/>
          </a:p>
        </p:txBody>
      </p:sp>
      <p:sp>
        <p:nvSpPr>
          <p:cNvPr id="17" name="Shape 14"/>
          <p:cNvSpPr/>
          <p:nvPr/>
        </p:nvSpPr>
        <p:spPr>
          <a:xfrm>
            <a:off x="7818120" y="2483510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964424" y="2912364"/>
            <a:ext cx="78377" cy="131674"/>
          </a:xfrm>
          <a:prstGeom prst="rect">
            <a:avLst/>
          </a:prstGeom>
          <a:solidFill>
            <a:srgbClr val="8C6E93"/>
          </a:solidFill>
          <a:ln/>
        </p:spPr>
      </p:sp>
      <p:sp>
        <p:nvSpPr>
          <p:cNvPr id="19" name="Shape 16"/>
          <p:cNvSpPr/>
          <p:nvPr/>
        </p:nvSpPr>
        <p:spPr>
          <a:xfrm>
            <a:off x="8097665" y="2830068"/>
            <a:ext cx="78377" cy="213970"/>
          </a:xfrm>
          <a:prstGeom prst="rect">
            <a:avLst/>
          </a:prstGeom>
          <a:solidFill>
            <a:srgbClr val="8C6E93"/>
          </a:solidFill>
          <a:ln/>
        </p:spPr>
      </p:sp>
      <p:sp>
        <p:nvSpPr>
          <p:cNvPr id="20" name="Shape 17"/>
          <p:cNvSpPr/>
          <p:nvPr/>
        </p:nvSpPr>
        <p:spPr>
          <a:xfrm>
            <a:off x="8230906" y="2747772"/>
            <a:ext cx="78377" cy="296266"/>
          </a:xfrm>
          <a:prstGeom prst="rect">
            <a:avLst/>
          </a:prstGeom>
          <a:solidFill>
            <a:srgbClr val="8C6E93"/>
          </a:solidFill>
          <a:ln/>
        </p:spPr>
      </p:sp>
      <p:sp>
        <p:nvSpPr>
          <p:cNvPr id="21" name="Text 18"/>
          <p:cNvSpPr/>
          <p:nvPr/>
        </p:nvSpPr>
        <p:spPr>
          <a:xfrm>
            <a:off x="8421624" y="2556662"/>
            <a:ext cx="31638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— Perpetrator by Violence Type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421624" y="2895283"/>
            <a:ext cx="31638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 of perpetrator and violence type.</a:t>
            </a:r>
            <a:endParaRPr lang="en-US" sz="870" dirty="0"/>
          </a:p>
        </p:txBody>
      </p:sp>
      <p:sp>
        <p:nvSpPr>
          <p:cNvPr id="23" name="Shape 20"/>
          <p:cNvSpPr/>
          <p:nvPr/>
        </p:nvSpPr>
        <p:spPr>
          <a:xfrm>
            <a:off x="7818120" y="3394253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980883" y="3856025"/>
            <a:ext cx="92172" cy="-115214"/>
          </a:xfrm>
          <a:prstGeom prst="line">
            <a:avLst/>
          </a:prstGeom>
          <a:noFill/>
          <a:ln w="28575">
            <a:solidFill>
              <a:srgbClr val="D4A94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73055" y="3740810"/>
            <a:ext cx="98755" cy="98755"/>
          </a:xfrm>
          <a:prstGeom prst="line">
            <a:avLst/>
          </a:prstGeom>
          <a:noFill/>
          <a:ln w="28575">
            <a:solidFill>
              <a:srgbClr val="D4A94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171810" y="3839566"/>
            <a:ext cx="98755" cy="-164592"/>
          </a:xfrm>
          <a:prstGeom prst="line">
            <a:avLst/>
          </a:prstGeom>
          <a:noFill/>
          <a:ln w="28575">
            <a:solidFill>
              <a:srgbClr val="D4A9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21624" y="3467405"/>
            <a:ext cx="31638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— Children by Perpetrator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421624" y="3806025"/>
            <a:ext cx="31638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children by perpetrator type.</a:t>
            </a:r>
            <a:endParaRPr lang="en-US" sz="870" dirty="0"/>
          </a:p>
        </p:txBody>
      </p:sp>
      <p:sp>
        <p:nvSpPr>
          <p:cNvPr id="29" name="Shape 26"/>
          <p:cNvSpPr/>
          <p:nvPr/>
        </p:nvSpPr>
        <p:spPr>
          <a:xfrm>
            <a:off x="7818120" y="4304995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964424" y="4733849"/>
            <a:ext cx="78377" cy="131674"/>
          </a:xfrm>
          <a:prstGeom prst="rect">
            <a:avLst/>
          </a:prstGeom>
          <a:solidFill>
            <a:srgbClr val="3D2645"/>
          </a:solidFill>
          <a:ln/>
        </p:spPr>
      </p:sp>
      <p:sp>
        <p:nvSpPr>
          <p:cNvPr id="31" name="Shape 28"/>
          <p:cNvSpPr/>
          <p:nvPr/>
        </p:nvSpPr>
        <p:spPr>
          <a:xfrm>
            <a:off x="8097665" y="4651553"/>
            <a:ext cx="78377" cy="213970"/>
          </a:xfrm>
          <a:prstGeom prst="rect">
            <a:avLst/>
          </a:prstGeom>
          <a:solidFill>
            <a:srgbClr val="3D2645"/>
          </a:solidFill>
          <a:ln/>
        </p:spPr>
      </p:sp>
      <p:sp>
        <p:nvSpPr>
          <p:cNvPr id="32" name="Shape 29"/>
          <p:cNvSpPr/>
          <p:nvPr/>
        </p:nvSpPr>
        <p:spPr>
          <a:xfrm>
            <a:off x="8230906" y="4569257"/>
            <a:ext cx="78377" cy="296266"/>
          </a:xfrm>
          <a:prstGeom prst="rect">
            <a:avLst/>
          </a:prstGeom>
          <a:solidFill>
            <a:srgbClr val="3D2645"/>
          </a:solidFill>
          <a:ln/>
        </p:spPr>
      </p:sp>
      <p:sp>
        <p:nvSpPr>
          <p:cNvPr id="33" name="Text 30"/>
          <p:cNvSpPr/>
          <p:nvPr/>
        </p:nvSpPr>
        <p:spPr>
          <a:xfrm>
            <a:off x="8421624" y="4378147"/>
            <a:ext cx="31638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— Children by Residence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8421624" y="4716768"/>
            <a:ext cx="31638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composition by residence &amp; perpetrator.</a:t>
            </a:r>
            <a:endParaRPr lang="en-US" sz="870" dirty="0"/>
          </a:p>
        </p:txBody>
      </p:sp>
      <p:sp>
        <p:nvSpPr>
          <p:cNvPr id="35" name="Shape 32"/>
          <p:cNvSpPr/>
          <p:nvPr/>
        </p:nvSpPr>
        <p:spPr>
          <a:xfrm>
            <a:off x="7818120" y="5215738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964424" y="5447081"/>
            <a:ext cx="329184" cy="52669"/>
          </a:xfrm>
          <a:prstGeom prst="rect">
            <a:avLst/>
          </a:prstGeom>
          <a:solidFill>
            <a:srgbClr val="8C6E93"/>
          </a:solidFill>
          <a:ln/>
        </p:spPr>
      </p:sp>
      <p:sp>
        <p:nvSpPr>
          <p:cNvPr id="37" name="Shape 34"/>
          <p:cNvSpPr/>
          <p:nvPr/>
        </p:nvSpPr>
        <p:spPr>
          <a:xfrm>
            <a:off x="8022031" y="5545836"/>
            <a:ext cx="213970" cy="52669"/>
          </a:xfrm>
          <a:prstGeom prst="rect">
            <a:avLst/>
          </a:prstGeom>
          <a:solidFill>
            <a:srgbClr val="8C6E93"/>
          </a:solidFill>
          <a:ln/>
        </p:spPr>
      </p:sp>
      <p:sp>
        <p:nvSpPr>
          <p:cNvPr id="38" name="Shape 35"/>
          <p:cNvSpPr/>
          <p:nvPr/>
        </p:nvSpPr>
        <p:spPr>
          <a:xfrm>
            <a:off x="8076347" y="5644591"/>
            <a:ext cx="105339" cy="52669"/>
          </a:xfrm>
          <a:prstGeom prst="rect">
            <a:avLst/>
          </a:prstGeom>
          <a:solidFill>
            <a:srgbClr val="8C6E93"/>
          </a:solidFill>
          <a:ln/>
        </p:spPr>
      </p:sp>
      <p:sp>
        <p:nvSpPr>
          <p:cNvPr id="39" name="Text 36"/>
          <p:cNvSpPr/>
          <p:nvPr/>
        </p:nvSpPr>
        <p:spPr>
          <a:xfrm>
            <a:off x="8421624" y="5288890"/>
            <a:ext cx="31638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— Perpetrator Relationship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8421624" y="5627510"/>
            <a:ext cx="31638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the whole page.</a:t>
            </a:r>
            <a:endParaRPr lang="en-US" sz="870" dirty="0"/>
          </a:p>
        </p:txBody>
      </p:sp>
      <p:sp>
        <p:nvSpPr>
          <p:cNvPr id="41" name="Text 3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of 5 — Perpetrators &amp; Household Context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Domestic Violence Dataset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3D26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Service Utilization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victims accessing support services, and what factors (income, education, employment) correlate with that?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SCREENSHOT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18120" y="126187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ON THIS PAGE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" y="1663676"/>
            <a:ext cx="7342632" cy="425302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E4DC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mnt/user-data/uploads/1782885541481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91692"/>
            <a:ext cx="7086600" cy="39969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18120" y="1572768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964424" y="2001622"/>
            <a:ext cx="78377" cy="131674"/>
          </a:xfrm>
          <a:prstGeom prst="rect">
            <a:avLst/>
          </a:prstGeom>
          <a:solidFill>
            <a:srgbClr val="3D2645"/>
          </a:solidFill>
          <a:ln/>
        </p:spPr>
      </p:sp>
      <p:sp>
        <p:nvSpPr>
          <p:cNvPr id="12" name="Shape 9"/>
          <p:cNvSpPr/>
          <p:nvPr/>
        </p:nvSpPr>
        <p:spPr>
          <a:xfrm>
            <a:off x="8097665" y="1919326"/>
            <a:ext cx="78377" cy="213970"/>
          </a:xfrm>
          <a:prstGeom prst="rect">
            <a:avLst/>
          </a:prstGeom>
          <a:solidFill>
            <a:srgbClr val="3D2645"/>
          </a:solidFill>
          <a:ln/>
        </p:spPr>
      </p:sp>
      <p:sp>
        <p:nvSpPr>
          <p:cNvPr id="13" name="Shape 10"/>
          <p:cNvSpPr/>
          <p:nvPr/>
        </p:nvSpPr>
        <p:spPr>
          <a:xfrm>
            <a:off x="8230906" y="1837030"/>
            <a:ext cx="78377" cy="296266"/>
          </a:xfrm>
          <a:prstGeom prst="rect">
            <a:avLst/>
          </a:prstGeom>
          <a:solidFill>
            <a:srgbClr val="3D2645"/>
          </a:solidFill>
          <a:ln/>
        </p:spPr>
      </p:sp>
      <p:sp>
        <p:nvSpPr>
          <p:cNvPr id="14" name="Text 11"/>
          <p:cNvSpPr/>
          <p:nvPr/>
        </p:nvSpPr>
        <p:spPr>
          <a:xfrm>
            <a:off x="8421624" y="1645920"/>
            <a:ext cx="31638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— Cases by Type &amp; Services Used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421624" y="1984541"/>
            <a:ext cx="31638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volume by violence type &amp; service use.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7818120" y="2483510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980883" y="2928823"/>
            <a:ext cx="65837" cy="65837"/>
          </a:xfrm>
          <a:prstGeom prst="ellipse">
            <a:avLst/>
          </a:prstGeom>
          <a:solidFill>
            <a:srgbClr val="8C6E93"/>
          </a:solidFill>
          <a:ln/>
        </p:spPr>
      </p:sp>
      <p:sp>
        <p:nvSpPr>
          <p:cNvPr id="18" name="Shape 15"/>
          <p:cNvSpPr/>
          <p:nvPr/>
        </p:nvSpPr>
        <p:spPr>
          <a:xfrm>
            <a:off x="8079638" y="2813609"/>
            <a:ext cx="65837" cy="65837"/>
          </a:xfrm>
          <a:prstGeom prst="ellipse">
            <a:avLst/>
          </a:prstGeom>
          <a:solidFill>
            <a:srgbClr val="8C6E93"/>
          </a:solidFill>
          <a:ln/>
        </p:spPr>
      </p:sp>
      <p:sp>
        <p:nvSpPr>
          <p:cNvPr id="19" name="Shape 16"/>
          <p:cNvSpPr/>
          <p:nvPr/>
        </p:nvSpPr>
        <p:spPr>
          <a:xfrm>
            <a:off x="8161934" y="2961742"/>
            <a:ext cx="65837" cy="65837"/>
          </a:xfrm>
          <a:prstGeom prst="ellipse">
            <a:avLst/>
          </a:prstGeom>
          <a:solidFill>
            <a:srgbClr val="8C6E93"/>
          </a:solidFill>
          <a:ln/>
        </p:spPr>
      </p:sp>
      <p:sp>
        <p:nvSpPr>
          <p:cNvPr id="20" name="Shape 17"/>
          <p:cNvSpPr/>
          <p:nvPr/>
        </p:nvSpPr>
        <p:spPr>
          <a:xfrm>
            <a:off x="8244230" y="2764231"/>
            <a:ext cx="65837" cy="65837"/>
          </a:xfrm>
          <a:prstGeom prst="ellipse">
            <a:avLst/>
          </a:prstGeom>
          <a:solidFill>
            <a:srgbClr val="8C6E93"/>
          </a:solidFill>
          <a:ln/>
        </p:spPr>
      </p:sp>
      <p:sp>
        <p:nvSpPr>
          <p:cNvPr id="21" name="Text 18"/>
          <p:cNvSpPr/>
          <p:nvPr/>
        </p:nvSpPr>
        <p:spPr>
          <a:xfrm>
            <a:off x="8421624" y="2556662"/>
            <a:ext cx="31638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— Income &amp; Frequency vs Services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421624" y="2895283"/>
            <a:ext cx="31638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Income/frequency related to service uptake.</a:t>
            </a:r>
            <a:endParaRPr lang="en-US" sz="870" dirty="0"/>
          </a:p>
        </p:txBody>
      </p:sp>
      <p:sp>
        <p:nvSpPr>
          <p:cNvPr id="23" name="Shape 20"/>
          <p:cNvSpPr/>
          <p:nvPr/>
        </p:nvSpPr>
        <p:spPr>
          <a:xfrm>
            <a:off x="7818120" y="3394253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964424" y="3823106"/>
            <a:ext cx="78377" cy="131674"/>
          </a:xfrm>
          <a:prstGeom prst="rect">
            <a:avLst/>
          </a:prstGeom>
          <a:solidFill>
            <a:srgbClr val="D4A94A"/>
          </a:solidFill>
          <a:ln/>
        </p:spPr>
      </p:sp>
      <p:sp>
        <p:nvSpPr>
          <p:cNvPr id="25" name="Shape 22"/>
          <p:cNvSpPr/>
          <p:nvPr/>
        </p:nvSpPr>
        <p:spPr>
          <a:xfrm>
            <a:off x="8097665" y="3740810"/>
            <a:ext cx="78377" cy="213970"/>
          </a:xfrm>
          <a:prstGeom prst="rect">
            <a:avLst/>
          </a:prstGeom>
          <a:solidFill>
            <a:srgbClr val="D4A94A"/>
          </a:solidFill>
          <a:ln/>
        </p:spPr>
      </p:sp>
      <p:sp>
        <p:nvSpPr>
          <p:cNvPr id="26" name="Shape 23"/>
          <p:cNvSpPr/>
          <p:nvPr/>
        </p:nvSpPr>
        <p:spPr>
          <a:xfrm>
            <a:off x="8230906" y="3658514"/>
            <a:ext cx="78377" cy="296266"/>
          </a:xfrm>
          <a:prstGeom prst="rect">
            <a:avLst/>
          </a:prstGeom>
          <a:solidFill>
            <a:srgbClr val="D4A94A"/>
          </a:solidFill>
          <a:ln/>
        </p:spPr>
      </p:sp>
      <p:sp>
        <p:nvSpPr>
          <p:cNvPr id="27" name="Text 24"/>
          <p:cNvSpPr/>
          <p:nvPr/>
        </p:nvSpPr>
        <p:spPr>
          <a:xfrm>
            <a:off x="8421624" y="3467405"/>
            <a:ext cx="31638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— Cases by Education &amp; Services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421624" y="3806025"/>
            <a:ext cx="31638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usage across education levels.</a:t>
            </a:r>
            <a:endParaRPr lang="en-US" sz="870" dirty="0"/>
          </a:p>
        </p:txBody>
      </p:sp>
      <p:sp>
        <p:nvSpPr>
          <p:cNvPr id="29" name="Shape 26"/>
          <p:cNvSpPr/>
          <p:nvPr/>
        </p:nvSpPr>
        <p:spPr>
          <a:xfrm>
            <a:off x="7818120" y="4304995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964424" y="4536338"/>
            <a:ext cx="329184" cy="52669"/>
          </a:xfrm>
          <a:prstGeom prst="rect">
            <a:avLst/>
          </a:prstGeom>
          <a:solidFill>
            <a:srgbClr val="3D2645"/>
          </a:solidFill>
          <a:ln/>
        </p:spPr>
      </p:sp>
      <p:sp>
        <p:nvSpPr>
          <p:cNvPr id="31" name="Shape 28"/>
          <p:cNvSpPr/>
          <p:nvPr/>
        </p:nvSpPr>
        <p:spPr>
          <a:xfrm>
            <a:off x="8022031" y="4635094"/>
            <a:ext cx="213970" cy="52669"/>
          </a:xfrm>
          <a:prstGeom prst="rect">
            <a:avLst/>
          </a:prstGeom>
          <a:solidFill>
            <a:srgbClr val="3D2645"/>
          </a:solidFill>
          <a:ln/>
        </p:spPr>
      </p:sp>
      <p:sp>
        <p:nvSpPr>
          <p:cNvPr id="32" name="Shape 29"/>
          <p:cNvSpPr/>
          <p:nvPr/>
        </p:nvSpPr>
        <p:spPr>
          <a:xfrm>
            <a:off x="8076347" y="4733849"/>
            <a:ext cx="105339" cy="52669"/>
          </a:xfrm>
          <a:prstGeom prst="rect">
            <a:avLst/>
          </a:prstGeom>
          <a:solidFill>
            <a:srgbClr val="3D2645"/>
          </a:solidFill>
          <a:ln/>
        </p:spPr>
      </p:sp>
      <p:sp>
        <p:nvSpPr>
          <p:cNvPr id="33" name="Text 30"/>
          <p:cNvSpPr/>
          <p:nvPr/>
        </p:nvSpPr>
        <p:spPr>
          <a:xfrm>
            <a:off x="8421624" y="4378147"/>
            <a:ext cx="31638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— Support Services Used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8421624" y="4716768"/>
            <a:ext cx="31638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the whole page.</a:t>
            </a:r>
            <a:endParaRPr lang="en-US" sz="870" dirty="0"/>
          </a:p>
        </p:txBody>
      </p:sp>
      <p:sp>
        <p:nvSpPr>
          <p:cNvPr id="35" name="Shape 32"/>
          <p:cNvSpPr/>
          <p:nvPr/>
        </p:nvSpPr>
        <p:spPr>
          <a:xfrm>
            <a:off x="7818120" y="5215738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964424" y="5447081"/>
            <a:ext cx="329184" cy="329184"/>
          </a:xfrm>
          <a:prstGeom prst="ellipse">
            <a:avLst/>
          </a:prstGeom>
          <a:solidFill>
            <a:srgbClr val="8C6E93"/>
          </a:solidFill>
          <a:ln/>
        </p:spPr>
      </p:sp>
      <p:sp>
        <p:nvSpPr>
          <p:cNvPr id="37" name="Shape 34"/>
          <p:cNvSpPr/>
          <p:nvPr/>
        </p:nvSpPr>
        <p:spPr>
          <a:xfrm>
            <a:off x="8046720" y="5529377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Text 35"/>
          <p:cNvSpPr/>
          <p:nvPr/>
        </p:nvSpPr>
        <p:spPr>
          <a:xfrm>
            <a:off x="8421624" y="5288890"/>
            <a:ext cx="31638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— Services Used Indicator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8421624" y="5627510"/>
            <a:ext cx="31638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gauge, 1,200 of 2,400 services used.</a:t>
            </a:r>
            <a:endParaRPr lang="en-US" sz="870" dirty="0"/>
          </a:p>
        </p:txBody>
      </p:sp>
      <p:sp>
        <p:nvSpPr>
          <p:cNvPr id="40" name="Text 3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of 5 — Support Service Utilization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Domestic Violence Dataset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D26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3840480" cy="3840480"/>
          </a:xfrm>
          <a:prstGeom prst="ellipse">
            <a:avLst/>
          </a:prstGeom>
          <a:solidFill>
            <a:srgbClr val="2A1A31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389120"/>
            <a:ext cx="3474720" cy="3474720"/>
          </a:xfrm>
          <a:prstGeom prst="ellipse">
            <a:avLst/>
          </a:prstGeom>
          <a:solidFill>
            <a:srgbClr val="2A1A3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Structure at a Glance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2084832" cy="960120"/>
          </a:xfrm>
          <a:prstGeom prst="roundRect">
            <a:avLst>
              <a:gd name="adj" fmla="val 5714"/>
            </a:avLst>
          </a:prstGeom>
          <a:solidFill>
            <a:srgbClr val="8C6E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2084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907792" y="2395728"/>
            <a:ext cx="164592" cy="0"/>
          </a:xfrm>
          <a:prstGeom prst="line">
            <a:avLst/>
          </a:prstGeom>
          <a:noFill/>
          <a:ln w="25400">
            <a:solidFill>
              <a:srgbClr val="C9BE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72384" y="1920240"/>
            <a:ext cx="2084832" cy="960120"/>
          </a:xfrm>
          <a:prstGeom prst="roundRect">
            <a:avLst>
              <a:gd name="adj" fmla="val 5714"/>
            </a:avLst>
          </a:prstGeom>
          <a:solidFill>
            <a:srgbClr val="D4A94A"/>
          </a:solidFill>
          <a:ln/>
        </p:spPr>
      </p:sp>
      <p:sp>
        <p:nvSpPr>
          <p:cNvPr id="9" name="Text 7"/>
          <p:cNvSpPr/>
          <p:nvPr/>
        </p:nvSpPr>
        <p:spPr>
          <a:xfrm>
            <a:off x="3072384" y="1920240"/>
            <a:ext cx="2084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Violence Types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157216" y="2395728"/>
            <a:ext cx="164592" cy="0"/>
          </a:xfrm>
          <a:prstGeom prst="line">
            <a:avLst/>
          </a:prstGeom>
          <a:noFill/>
          <a:ln w="25400">
            <a:solidFill>
              <a:srgbClr val="C9BE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21808" y="1920240"/>
            <a:ext cx="2084832" cy="960120"/>
          </a:xfrm>
          <a:prstGeom prst="roundRect">
            <a:avLst>
              <a:gd name="adj" fmla="val 5714"/>
            </a:avLst>
          </a:prstGeom>
          <a:solidFill>
            <a:srgbClr val="8C6E93"/>
          </a:solidFill>
          <a:ln/>
        </p:spPr>
      </p:sp>
      <p:sp>
        <p:nvSpPr>
          <p:cNvPr id="12" name="Text 10"/>
          <p:cNvSpPr/>
          <p:nvPr/>
        </p:nvSpPr>
        <p:spPr>
          <a:xfrm>
            <a:off x="5321808" y="1920240"/>
            <a:ext cx="2084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06640" y="2395728"/>
            <a:ext cx="164592" cy="0"/>
          </a:xfrm>
          <a:prstGeom prst="line">
            <a:avLst/>
          </a:prstGeom>
          <a:noFill/>
          <a:ln w="25400">
            <a:solidFill>
              <a:srgbClr val="C9BE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71232" y="1920240"/>
            <a:ext cx="2084832" cy="960120"/>
          </a:xfrm>
          <a:prstGeom prst="roundRect">
            <a:avLst>
              <a:gd name="adj" fmla="val 5714"/>
            </a:avLst>
          </a:prstGeom>
          <a:solidFill>
            <a:srgbClr val="D4A94A"/>
          </a:solidFill>
          <a:ln/>
        </p:spPr>
      </p:sp>
      <p:sp>
        <p:nvSpPr>
          <p:cNvPr id="15" name="Text 13"/>
          <p:cNvSpPr/>
          <p:nvPr/>
        </p:nvSpPr>
        <p:spPr>
          <a:xfrm>
            <a:off x="7571232" y="1920240"/>
            <a:ext cx="2084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Perpetrators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656064" y="2395728"/>
            <a:ext cx="164592" cy="0"/>
          </a:xfrm>
          <a:prstGeom prst="line">
            <a:avLst/>
          </a:prstGeom>
          <a:noFill/>
          <a:ln w="25400">
            <a:solidFill>
              <a:srgbClr val="C9BE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20656" y="1920240"/>
            <a:ext cx="2084832" cy="960120"/>
          </a:xfrm>
          <a:prstGeom prst="roundRect">
            <a:avLst>
              <a:gd name="adj" fmla="val 5714"/>
            </a:avLst>
          </a:prstGeom>
          <a:solidFill>
            <a:srgbClr val="8C6E93"/>
          </a:solidFill>
          <a:ln/>
        </p:spPr>
      </p:sp>
      <p:sp>
        <p:nvSpPr>
          <p:cNvPr id="18" name="Text 16"/>
          <p:cNvSpPr/>
          <p:nvPr/>
        </p:nvSpPr>
        <p:spPr>
          <a:xfrm>
            <a:off x="9820656" y="1920240"/>
            <a:ext cx="2084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Services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32918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follows the same pattern: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guiding question, a slicer for interactivity, and a mix of chart types chosen to answer that question.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663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22960" y="5257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.pbix in Power BI Desktop to explore each page interactively.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Domestic Violence Data Dashboard - Report Walkthrough</dc:title>
  <dc:subject>PptxGenJS Presentation</dc:subject>
  <dc:creator>Power BI Report Walkthrough</dc:creator>
  <cp:lastModifiedBy>Power BI Report Walkthrough</cp:lastModifiedBy>
  <cp:revision>1</cp:revision>
  <dcterms:created xsi:type="dcterms:W3CDTF">2026-07-01T06:04:30Z</dcterms:created>
  <dcterms:modified xsi:type="dcterms:W3CDTF">2026-07-01T06:04:30Z</dcterms:modified>
</cp:coreProperties>
</file>