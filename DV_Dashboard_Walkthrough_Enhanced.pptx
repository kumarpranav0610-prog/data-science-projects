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257" r:id="rId6"/>
    <p:sldId id="265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A1A31"/>
          </a:solidFill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A1A31"/>
          </a:solidFill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4A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REPORT WALKTHROUGH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Domestic Violence Data Dashboard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BE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page-by-page tour of every report page and visual in the .pbix 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9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E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Pages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0" y="429768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9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4937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E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60720" y="429768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9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760720" y="4937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E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Slicers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file: Data_visualation_pbix_project.pbix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Understanding Domestic Violence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repeated pattern of behaviour used to gain power and control over an intimate partner or family member — it takes many forms beyond physical violence.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39112"/>
            <a:ext cx="457200" cy="45720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5" name="Text 3"/>
          <p:cNvSpPr/>
          <p:nvPr/>
        </p:nvSpPr>
        <p:spPr>
          <a:xfrm>
            <a:off x="548640" y="20391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34440" y="1965960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196596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Abuse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92040" y="1965960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Hitting, choking, restraining, or any act intended to cause bodily injury or fear of injury.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10" name="Text 8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2807208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2807208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Emotional &amp; Psychological Abuse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92040" y="2807208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Insults, threats, humiliation, and control tactics that erode a victim’s self-worth and independence.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457200" cy="45720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15" name="Text 13"/>
          <p:cNvSpPr/>
          <p:nvPr/>
        </p:nvSpPr>
        <p:spPr>
          <a:xfrm>
            <a:off x="548640" y="37216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34440" y="3648456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08760" y="3648456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Sexual Abuse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92040" y="3648456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non-consensual sexual act or coercion, including within intimate or marital relationships.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62856"/>
            <a:ext cx="457200" cy="45720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20" name="Text 18"/>
          <p:cNvSpPr/>
          <p:nvPr/>
        </p:nvSpPr>
        <p:spPr>
          <a:xfrm>
            <a:off x="548640" y="4562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34440" y="4489704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08760" y="4489704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&amp; Economic Abuse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92040" y="4489704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Controlling money, employment, or assets to create dependency and limit a victim’s ability to leave.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04104"/>
            <a:ext cx="457200" cy="45720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25" name="Text 23"/>
          <p:cNvSpPr/>
          <p:nvPr/>
        </p:nvSpPr>
        <p:spPr>
          <a:xfrm>
            <a:off x="548640" y="540410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34440" y="5330952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08760" y="5330952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Stalking, Neglect &amp; Coercive Control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92040" y="533095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Persistent surveillance, monitoring, or deprivation of care that restricts a victim’s freedom and safety.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Forms of Domestic Violence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WHO (2025), NFHS-5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About This Report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dashboard is built on a single table, synthetic_domestic_violence_dataset, and is organized into five analytical pages — each built around one guiding question.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39112"/>
            <a:ext cx="457200" cy="45720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5" name="Text 3"/>
          <p:cNvSpPr/>
          <p:nvPr/>
        </p:nvSpPr>
        <p:spPr>
          <a:xfrm>
            <a:off x="548640" y="20391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34440" y="1965960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196596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Victim Demographics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92040" y="1965960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Age, gender, education and economic profile of victims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10" name="Text 8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2807208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2807208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Violence Types &amp; Severity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92040" y="2807208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common violence types and incident frequency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457200" cy="45720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15" name="Text 13"/>
          <p:cNvSpPr/>
          <p:nvPr/>
        </p:nvSpPr>
        <p:spPr>
          <a:xfrm>
            <a:off x="548640" y="37216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34440" y="3648456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08760" y="3648456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&amp; Support Response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92040" y="3648456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often incidents are reported, and medical assistance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62856"/>
            <a:ext cx="457200" cy="45720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20" name="Text 18"/>
          <p:cNvSpPr/>
          <p:nvPr/>
        </p:nvSpPr>
        <p:spPr>
          <a:xfrm>
            <a:off x="548640" y="4562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34440" y="4489704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08760" y="4489704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Perpetrators &amp; Household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92040" y="4489704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Perpetrator relationships and household context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04104"/>
            <a:ext cx="457200" cy="45720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25" name="Text 23"/>
          <p:cNvSpPr/>
          <p:nvPr/>
        </p:nvSpPr>
        <p:spPr>
          <a:xfrm>
            <a:off x="548640" y="540410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34440" y="5330952"/>
            <a:ext cx="10424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08760" y="5330952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Service Utilization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92040" y="533095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victims access support services, and why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A1A31"/>
          </a:solidFill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A1A31"/>
          </a:solidFill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4A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FINDINGS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Insights from the Data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BE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1,200 case records reveal about victims, reporting, and support access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9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78%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E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Victims are Women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0" y="429768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9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56%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4937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E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Reported to Police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60720" y="429768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9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39%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760720" y="4937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E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Support Services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0" y="429768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9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1,200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29600" y="4937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E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Cases Logged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domestic_violence_dummy_dataset.csv — a synthetic, illustrative dataset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Victim Demographics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are the victims — in terms of age, gender, education, and economic status?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086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INSIGHT — 78% OF VICTIMS ARE WOMEN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18120" y="1261872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 ON THIS PAGE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655903"/>
            <a:ext cx="7342632" cy="426857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4DCE8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user-data/uploads/1782885438225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919"/>
            <a:ext cx="7086600" cy="401253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57276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64424" y="1804111"/>
            <a:ext cx="329184" cy="329184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12" name="Shape 9"/>
          <p:cNvSpPr/>
          <p:nvPr/>
        </p:nvSpPr>
        <p:spPr>
          <a:xfrm>
            <a:off x="8046720" y="1886407"/>
            <a:ext cx="164592" cy="164592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3" name="Text 10"/>
          <p:cNvSpPr/>
          <p:nvPr/>
        </p:nvSpPr>
        <p:spPr>
          <a:xfrm>
            <a:off x="8421624" y="1645920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Donut — Victims by Gender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21624" y="1984541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split of victims (case_id).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7818120" y="2483510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964424" y="2912364"/>
            <a:ext cx="78377" cy="131674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17" name="Shape 14"/>
          <p:cNvSpPr/>
          <p:nvPr/>
        </p:nvSpPr>
        <p:spPr>
          <a:xfrm>
            <a:off x="8097665" y="2830068"/>
            <a:ext cx="78377" cy="213970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18" name="Shape 15"/>
          <p:cNvSpPr/>
          <p:nvPr/>
        </p:nvSpPr>
        <p:spPr>
          <a:xfrm>
            <a:off x="8230906" y="2747772"/>
            <a:ext cx="78377" cy="296266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19" name="Text 16"/>
          <p:cNvSpPr/>
          <p:nvPr/>
        </p:nvSpPr>
        <p:spPr>
          <a:xfrm>
            <a:off x="8421624" y="2556662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— Education by Gender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21624" y="2895283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 level compared by gender.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818120" y="3394253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64424" y="3823106"/>
            <a:ext cx="78377" cy="131674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23" name="Shape 20"/>
          <p:cNvSpPr/>
          <p:nvPr/>
        </p:nvSpPr>
        <p:spPr>
          <a:xfrm>
            <a:off x="8097665" y="3740810"/>
            <a:ext cx="78377" cy="213970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24" name="Shape 21"/>
          <p:cNvSpPr/>
          <p:nvPr/>
        </p:nvSpPr>
        <p:spPr>
          <a:xfrm>
            <a:off x="8230906" y="3658514"/>
            <a:ext cx="78377" cy="296266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25" name="Text 22"/>
          <p:cNvSpPr/>
          <p:nvPr/>
        </p:nvSpPr>
        <p:spPr>
          <a:xfrm>
            <a:off x="8421624" y="3467405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— Education by Gender (2)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421624" y="3806025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 cut of the same comparison.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7818120" y="4304995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964424" y="4733849"/>
            <a:ext cx="78377" cy="131674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29" name="Shape 26"/>
          <p:cNvSpPr/>
          <p:nvPr/>
        </p:nvSpPr>
        <p:spPr>
          <a:xfrm>
            <a:off x="8097665" y="4651553"/>
            <a:ext cx="78377" cy="213970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30" name="Shape 27"/>
          <p:cNvSpPr/>
          <p:nvPr/>
        </p:nvSpPr>
        <p:spPr>
          <a:xfrm>
            <a:off x="8230906" y="4569257"/>
            <a:ext cx="78377" cy="296266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31" name="Text 28"/>
          <p:cNvSpPr/>
          <p:nvPr/>
        </p:nvSpPr>
        <p:spPr>
          <a:xfrm>
            <a:off x="8421624" y="4378147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 — Income by Employment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421624" y="4716768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Household income by employment status.</a:t>
            </a:r>
            <a:endParaRPr lang="en-US" sz="870" dirty="0"/>
          </a:p>
        </p:txBody>
      </p:sp>
      <p:sp>
        <p:nvSpPr>
          <p:cNvPr id="33" name="Shape 30"/>
          <p:cNvSpPr/>
          <p:nvPr/>
        </p:nvSpPr>
        <p:spPr>
          <a:xfrm>
            <a:off x="7818120" y="521573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964424" y="5447081"/>
            <a:ext cx="16294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964424" y="5582869"/>
            <a:ext cx="16294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62757" y="5447081"/>
            <a:ext cx="11850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162757" y="5582869"/>
            <a:ext cx="11850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21624" y="5288890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— Victim Gender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421624" y="5627510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list of gender categories.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1 of 5 — Victim Demographics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Violence Types &amp; Severity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types of violence occur most often, and how frequent/severe are incidents?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086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INSIGHT — 24% OF CASES ARE SEVERE OR FATAL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18120" y="1261872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 ON THIS PAGE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694880"/>
            <a:ext cx="7342632" cy="4190617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12700">
            <a:solidFill>
              <a:srgbClr val="E4DCE8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user-data/uploads/1782885463063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2896"/>
            <a:ext cx="7086600" cy="393458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57276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64424" y="2001622"/>
            <a:ext cx="78377" cy="131674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12" name="Shape 9"/>
          <p:cNvSpPr/>
          <p:nvPr/>
        </p:nvSpPr>
        <p:spPr>
          <a:xfrm>
            <a:off x="8097665" y="1919326"/>
            <a:ext cx="78377" cy="213970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13" name="Shape 10"/>
          <p:cNvSpPr/>
          <p:nvPr/>
        </p:nvSpPr>
        <p:spPr>
          <a:xfrm>
            <a:off x="8230906" y="1837030"/>
            <a:ext cx="78377" cy="296266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14" name="Text 11"/>
          <p:cNvSpPr/>
          <p:nvPr/>
        </p:nvSpPr>
        <p:spPr>
          <a:xfrm>
            <a:off x="8421624" y="1645920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Stacked Bar — Violence Type Share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421624" y="1984541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of total cases by violence type.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7818120" y="2483510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80883" y="2928823"/>
            <a:ext cx="65837" cy="65837"/>
          </a:xfrm>
          <a:prstGeom prst="ellipse">
            <a:avLst/>
          </a:prstGeom>
          <a:solidFill>
            <a:srgbClr val="8C6E93"/>
          </a:solidFill>
        </p:spPr>
      </p:sp>
      <p:sp>
        <p:nvSpPr>
          <p:cNvPr id="18" name="Shape 15"/>
          <p:cNvSpPr/>
          <p:nvPr/>
        </p:nvSpPr>
        <p:spPr>
          <a:xfrm>
            <a:off x="8079638" y="2813609"/>
            <a:ext cx="65837" cy="65837"/>
          </a:xfrm>
          <a:prstGeom prst="ellipse">
            <a:avLst/>
          </a:prstGeom>
          <a:solidFill>
            <a:srgbClr val="8C6E93"/>
          </a:solidFill>
        </p:spPr>
      </p:sp>
      <p:sp>
        <p:nvSpPr>
          <p:cNvPr id="19" name="Shape 16"/>
          <p:cNvSpPr/>
          <p:nvPr/>
        </p:nvSpPr>
        <p:spPr>
          <a:xfrm>
            <a:off x="8161934" y="2961742"/>
            <a:ext cx="65837" cy="65837"/>
          </a:xfrm>
          <a:prstGeom prst="ellipse">
            <a:avLst/>
          </a:prstGeom>
          <a:solidFill>
            <a:srgbClr val="8C6E93"/>
          </a:solidFill>
        </p:spPr>
      </p:sp>
      <p:sp>
        <p:nvSpPr>
          <p:cNvPr id="20" name="Shape 17"/>
          <p:cNvSpPr/>
          <p:nvPr/>
        </p:nvSpPr>
        <p:spPr>
          <a:xfrm>
            <a:off x="8244230" y="2764231"/>
            <a:ext cx="65837" cy="65837"/>
          </a:xfrm>
          <a:prstGeom prst="ellipse">
            <a:avLst/>
          </a:prstGeom>
          <a:solidFill>
            <a:srgbClr val="8C6E93"/>
          </a:solidFill>
        </p:spPr>
      </p:sp>
      <p:sp>
        <p:nvSpPr>
          <p:cNvPr id="21" name="Text 18"/>
          <p:cNvSpPr/>
          <p:nvPr/>
        </p:nvSpPr>
        <p:spPr>
          <a:xfrm>
            <a:off x="8421624" y="2556662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 — Frequency vs Age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421624" y="2895283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Incident frequency vs victim age.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7818120" y="3394253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64424" y="3823106"/>
            <a:ext cx="78377" cy="131674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25" name="Shape 22"/>
          <p:cNvSpPr/>
          <p:nvPr/>
        </p:nvSpPr>
        <p:spPr>
          <a:xfrm>
            <a:off x="8097665" y="3740810"/>
            <a:ext cx="78377" cy="213970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26" name="Shape 23"/>
          <p:cNvSpPr/>
          <p:nvPr/>
        </p:nvSpPr>
        <p:spPr>
          <a:xfrm>
            <a:off x="8230906" y="3658514"/>
            <a:ext cx="78377" cy="296266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27" name="Text 24"/>
          <p:cNvSpPr/>
          <p:nvPr/>
        </p:nvSpPr>
        <p:spPr>
          <a:xfrm>
            <a:off x="8421624" y="3467405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Stacked Column — Medical Assistance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421624" y="3806025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Medical aid needed, by violence type.</a:t>
            </a:r>
            <a:endParaRPr lang="en-US" sz="870" dirty="0"/>
          </a:p>
        </p:txBody>
      </p:sp>
      <p:sp>
        <p:nvSpPr>
          <p:cNvPr id="29" name="Shape 26"/>
          <p:cNvSpPr/>
          <p:nvPr/>
        </p:nvSpPr>
        <p:spPr>
          <a:xfrm>
            <a:off x="7818120" y="4304995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964424" y="4536338"/>
            <a:ext cx="329184" cy="329184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31" name="Text 28"/>
          <p:cNvSpPr/>
          <p:nvPr/>
        </p:nvSpPr>
        <p:spPr>
          <a:xfrm>
            <a:off x="7964424" y="453633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#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421624" y="4378147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 — Total Case Count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421624" y="4716768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 KPI, filtered by slicer.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7818120" y="521573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964424" y="5447081"/>
            <a:ext cx="329184" cy="52669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36" name="Shape 33"/>
          <p:cNvSpPr/>
          <p:nvPr/>
        </p:nvSpPr>
        <p:spPr>
          <a:xfrm>
            <a:off x="8022031" y="5545836"/>
            <a:ext cx="213970" cy="52669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37" name="Shape 34"/>
          <p:cNvSpPr/>
          <p:nvPr/>
        </p:nvSpPr>
        <p:spPr>
          <a:xfrm>
            <a:off x="8076347" y="5644591"/>
            <a:ext cx="105339" cy="52669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38" name="Text 35"/>
          <p:cNvSpPr/>
          <p:nvPr/>
        </p:nvSpPr>
        <p:spPr>
          <a:xfrm>
            <a:off x="8421624" y="5288890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 — Violence Type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421624" y="5627510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 the whole page.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2 of 5 — Violence Types &amp; Severity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Reporting &amp; Support Response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often is violence reported to authorities, and how does that relate to medical assistance and support use?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086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INSIGHT — VIRTUALLY NO ARRESTS WITHOUT A POLICE REPORT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18120" y="1261872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 ON THIS PAGE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691626"/>
            <a:ext cx="7342632" cy="4197125"/>
          </a:xfrm>
          <a:prstGeom prst="roundRect">
            <a:avLst>
              <a:gd name="adj" fmla="val 1089"/>
            </a:avLst>
          </a:prstGeom>
          <a:solidFill>
            <a:srgbClr val="FFFFFF"/>
          </a:solidFill>
          <a:ln w="12700">
            <a:solidFill>
              <a:srgbClr val="E4DCE8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user-data/uploads/1782885493292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19642"/>
            <a:ext cx="7086600" cy="394109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57276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64424" y="1804111"/>
            <a:ext cx="329184" cy="329184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12" name="Shape 9"/>
          <p:cNvSpPr/>
          <p:nvPr/>
        </p:nvSpPr>
        <p:spPr>
          <a:xfrm>
            <a:off x="8046720" y="1886407"/>
            <a:ext cx="164592" cy="164592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3" name="Text 10"/>
          <p:cNvSpPr/>
          <p:nvPr/>
        </p:nvSpPr>
        <p:spPr>
          <a:xfrm>
            <a:off x="8421624" y="1645920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Pie — Reported to Authorities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21624" y="1984541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of cases reported vs not.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7818120" y="2483510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964424" y="2912364"/>
            <a:ext cx="78377" cy="131674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17" name="Shape 14"/>
          <p:cNvSpPr/>
          <p:nvPr/>
        </p:nvSpPr>
        <p:spPr>
          <a:xfrm>
            <a:off x="8097665" y="2830068"/>
            <a:ext cx="78377" cy="213970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18" name="Shape 15"/>
          <p:cNvSpPr/>
          <p:nvPr/>
        </p:nvSpPr>
        <p:spPr>
          <a:xfrm>
            <a:off x="8230906" y="2747772"/>
            <a:ext cx="78377" cy="296266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19" name="Text 16"/>
          <p:cNvSpPr/>
          <p:nvPr/>
        </p:nvSpPr>
        <p:spPr>
          <a:xfrm>
            <a:off x="8421624" y="2556662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— Cases by Type &amp; Reporting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21624" y="2895283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behavior by violence type.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818120" y="3394253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64424" y="3823106"/>
            <a:ext cx="78377" cy="131674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23" name="Shape 20"/>
          <p:cNvSpPr/>
          <p:nvPr/>
        </p:nvSpPr>
        <p:spPr>
          <a:xfrm>
            <a:off x="8097665" y="3740810"/>
            <a:ext cx="78377" cy="213970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24" name="Shape 21"/>
          <p:cNvSpPr/>
          <p:nvPr/>
        </p:nvSpPr>
        <p:spPr>
          <a:xfrm>
            <a:off x="8230906" y="3658514"/>
            <a:ext cx="78377" cy="296266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25" name="Text 22"/>
          <p:cNvSpPr/>
          <p:nvPr/>
        </p:nvSpPr>
        <p:spPr>
          <a:xfrm>
            <a:off x="8421624" y="3467405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Stacked Column — Reporting vs Medical Aid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421624" y="3806025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crossed with medical need.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7818120" y="4304995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964424" y="4536338"/>
            <a:ext cx="16294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64424" y="4672127"/>
            <a:ext cx="16294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62757" y="4536338"/>
            <a:ext cx="11850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162757" y="4672127"/>
            <a:ext cx="11850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21624" y="4378147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Pivot Table — Residence x Reporting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421624" y="4716768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rates by residence type.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7818120" y="521573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964424" y="5447081"/>
            <a:ext cx="329184" cy="52669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36" name="Shape 33"/>
          <p:cNvSpPr/>
          <p:nvPr/>
        </p:nvSpPr>
        <p:spPr>
          <a:xfrm>
            <a:off x="8022031" y="5545836"/>
            <a:ext cx="213970" cy="52669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37" name="Shape 34"/>
          <p:cNvSpPr/>
          <p:nvPr/>
        </p:nvSpPr>
        <p:spPr>
          <a:xfrm>
            <a:off x="8076347" y="5644591"/>
            <a:ext cx="105339" cy="52669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38" name="Text 35"/>
          <p:cNvSpPr/>
          <p:nvPr/>
        </p:nvSpPr>
        <p:spPr>
          <a:xfrm>
            <a:off x="8421624" y="5288890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 — Medical Assistance Required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421624" y="5627510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 the whole page.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3 of 5 — Reporting &amp; Support Response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Perpetrators &amp; Household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are the perpetrators, and how does household context (children, residence, income) relate to abuse?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086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INSIGHT — 1 IN 3 CASES INVOLVE A PARENT OR RELATIVE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18120" y="1261872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 ON THIS PAGE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686381"/>
            <a:ext cx="7342632" cy="4207613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2700">
            <a:solidFill>
              <a:srgbClr val="E4DCE8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user-data/uploads/1782885521746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14397"/>
            <a:ext cx="7086600" cy="395158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57276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64424" y="1804111"/>
            <a:ext cx="16294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64424" y="1939900"/>
            <a:ext cx="16294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62757" y="1804111"/>
            <a:ext cx="118506" cy="103693"/>
          </a:xfrm>
          <a:prstGeom prst="rect">
            <a:avLst/>
          </a:prstGeom>
          <a:solidFill>
            <a:srgbClr val="3D26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62757" y="1939900"/>
            <a:ext cx="118506" cy="177759"/>
          </a:xfrm>
          <a:prstGeom prst="rect">
            <a:avLst/>
          </a:prstGeom>
          <a:solidFill>
            <a:srgbClr val="8C6E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21624" y="1645920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Treemap — Perpetrator Relationship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21624" y="1984541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Proportion of each perpetrator type.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7818120" y="2483510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64424" y="2912364"/>
            <a:ext cx="78377" cy="131674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19" name="Shape 16"/>
          <p:cNvSpPr/>
          <p:nvPr/>
        </p:nvSpPr>
        <p:spPr>
          <a:xfrm>
            <a:off x="8097665" y="2830068"/>
            <a:ext cx="78377" cy="213970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20" name="Shape 17"/>
          <p:cNvSpPr/>
          <p:nvPr/>
        </p:nvSpPr>
        <p:spPr>
          <a:xfrm>
            <a:off x="8230906" y="2747772"/>
            <a:ext cx="78377" cy="296266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21" name="Text 18"/>
          <p:cNvSpPr/>
          <p:nvPr/>
        </p:nvSpPr>
        <p:spPr>
          <a:xfrm>
            <a:off x="8421624" y="2556662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 — Perpetrator by Violence Type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421624" y="2895283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Cross-tab of perpetrator and violence type.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7818120" y="3394253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80883" y="3740811"/>
            <a:ext cx="92172" cy="115214"/>
          </a:xfrm>
          <a:prstGeom prst="line">
            <a:avLst/>
          </a:prstGeom>
          <a:noFill/>
          <a:ln w="28575">
            <a:solidFill>
              <a:srgbClr val="D4A9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73055" y="3740810"/>
            <a:ext cx="98755" cy="98755"/>
          </a:xfrm>
          <a:prstGeom prst="line">
            <a:avLst/>
          </a:prstGeom>
          <a:noFill/>
          <a:ln w="28575">
            <a:solidFill>
              <a:srgbClr val="D4A9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71810" y="3674974"/>
            <a:ext cx="98755" cy="164592"/>
          </a:xfrm>
          <a:prstGeom prst="line">
            <a:avLst/>
          </a:prstGeom>
          <a:noFill/>
          <a:ln w="28575">
            <a:solidFill>
              <a:srgbClr val="D4A9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21624" y="3467405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— Children by Perpetrator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421624" y="3806025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children by perpetrator type.</a:t>
            </a:r>
            <a:endParaRPr lang="en-US" sz="870" dirty="0"/>
          </a:p>
        </p:txBody>
      </p:sp>
      <p:sp>
        <p:nvSpPr>
          <p:cNvPr id="29" name="Shape 26"/>
          <p:cNvSpPr/>
          <p:nvPr/>
        </p:nvSpPr>
        <p:spPr>
          <a:xfrm>
            <a:off x="7818120" y="4304995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964424" y="4733849"/>
            <a:ext cx="78377" cy="131674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31" name="Shape 28"/>
          <p:cNvSpPr/>
          <p:nvPr/>
        </p:nvSpPr>
        <p:spPr>
          <a:xfrm>
            <a:off x="8097665" y="4651553"/>
            <a:ext cx="78377" cy="213970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32" name="Shape 29"/>
          <p:cNvSpPr/>
          <p:nvPr/>
        </p:nvSpPr>
        <p:spPr>
          <a:xfrm>
            <a:off x="8230906" y="4569257"/>
            <a:ext cx="78377" cy="296266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33" name="Text 30"/>
          <p:cNvSpPr/>
          <p:nvPr/>
        </p:nvSpPr>
        <p:spPr>
          <a:xfrm>
            <a:off x="8421624" y="4378147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— Children by Residence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421624" y="4716768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Household composition by residence &amp; perpetrator.</a:t>
            </a:r>
            <a:endParaRPr lang="en-US" sz="870" dirty="0"/>
          </a:p>
        </p:txBody>
      </p:sp>
      <p:sp>
        <p:nvSpPr>
          <p:cNvPr id="35" name="Shape 32"/>
          <p:cNvSpPr/>
          <p:nvPr/>
        </p:nvSpPr>
        <p:spPr>
          <a:xfrm>
            <a:off x="7818120" y="521573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964424" y="5447081"/>
            <a:ext cx="329184" cy="52669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37" name="Shape 34"/>
          <p:cNvSpPr/>
          <p:nvPr/>
        </p:nvSpPr>
        <p:spPr>
          <a:xfrm>
            <a:off x="8022031" y="5545836"/>
            <a:ext cx="213970" cy="52669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38" name="Shape 35"/>
          <p:cNvSpPr/>
          <p:nvPr/>
        </p:nvSpPr>
        <p:spPr>
          <a:xfrm>
            <a:off x="8076347" y="5644591"/>
            <a:ext cx="105339" cy="52669"/>
          </a:xfrm>
          <a:prstGeom prst="rect">
            <a:avLst/>
          </a:prstGeom>
          <a:solidFill>
            <a:srgbClr val="8C6E93"/>
          </a:solidFill>
        </p:spPr>
      </p:sp>
      <p:sp>
        <p:nvSpPr>
          <p:cNvPr id="39" name="Text 36"/>
          <p:cNvSpPr/>
          <p:nvPr/>
        </p:nvSpPr>
        <p:spPr>
          <a:xfrm>
            <a:off x="8421624" y="5288890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 — Perpetrator Relationship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8421624" y="5627510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 the whole page.</a:t>
            </a:r>
            <a:endParaRPr lang="en-US" sz="870" dirty="0"/>
          </a:p>
        </p:txBody>
      </p:sp>
      <p:sp>
        <p:nvSpPr>
          <p:cNvPr id="41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4 of 5 — Perpetrators &amp; Household Context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3D2645"/>
          </a:solidFill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A3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Support Service Utilization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8229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 victims accessing support services, and what factors (income, education, employment) correlate with that?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086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INSIGHT — ONLY 39% OF VICTIMS USE SUPPORT SERVICES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18120" y="1261872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6E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 ON THIS PAGE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663676"/>
            <a:ext cx="7342632" cy="425302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E4DCE8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user-data/uploads/1782885541481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91692"/>
            <a:ext cx="7086600" cy="39969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57276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64424" y="2001622"/>
            <a:ext cx="78377" cy="131674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12" name="Shape 9"/>
          <p:cNvSpPr/>
          <p:nvPr/>
        </p:nvSpPr>
        <p:spPr>
          <a:xfrm>
            <a:off x="8097665" y="1919326"/>
            <a:ext cx="78377" cy="213970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13" name="Shape 10"/>
          <p:cNvSpPr/>
          <p:nvPr/>
        </p:nvSpPr>
        <p:spPr>
          <a:xfrm>
            <a:off x="8230906" y="1837030"/>
            <a:ext cx="78377" cy="296266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14" name="Text 11"/>
          <p:cNvSpPr/>
          <p:nvPr/>
        </p:nvSpPr>
        <p:spPr>
          <a:xfrm>
            <a:off x="8421624" y="1645920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— Cases by Type &amp; Services Used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421624" y="1984541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volume by violence type &amp; service use.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7818120" y="2483510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80883" y="2928823"/>
            <a:ext cx="65837" cy="65837"/>
          </a:xfrm>
          <a:prstGeom prst="ellipse">
            <a:avLst/>
          </a:prstGeom>
          <a:solidFill>
            <a:srgbClr val="8C6E93"/>
          </a:solidFill>
        </p:spPr>
      </p:sp>
      <p:sp>
        <p:nvSpPr>
          <p:cNvPr id="18" name="Shape 15"/>
          <p:cNvSpPr/>
          <p:nvPr/>
        </p:nvSpPr>
        <p:spPr>
          <a:xfrm>
            <a:off x="8079638" y="2813609"/>
            <a:ext cx="65837" cy="65837"/>
          </a:xfrm>
          <a:prstGeom prst="ellipse">
            <a:avLst/>
          </a:prstGeom>
          <a:solidFill>
            <a:srgbClr val="8C6E93"/>
          </a:solidFill>
        </p:spPr>
      </p:sp>
      <p:sp>
        <p:nvSpPr>
          <p:cNvPr id="19" name="Shape 16"/>
          <p:cNvSpPr/>
          <p:nvPr/>
        </p:nvSpPr>
        <p:spPr>
          <a:xfrm>
            <a:off x="8161934" y="2961742"/>
            <a:ext cx="65837" cy="65837"/>
          </a:xfrm>
          <a:prstGeom prst="ellipse">
            <a:avLst/>
          </a:prstGeom>
          <a:solidFill>
            <a:srgbClr val="8C6E93"/>
          </a:solidFill>
        </p:spPr>
      </p:sp>
      <p:sp>
        <p:nvSpPr>
          <p:cNvPr id="20" name="Shape 17"/>
          <p:cNvSpPr/>
          <p:nvPr/>
        </p:nvSpPr>
        <p:spPr>
          <a:xfrm>
            <a:off x="8244230" y="2764231"/>
            <a:ext cx="65837" cy="65837"/>
          </a:xfrm>
          <a:prstGeom prst="ellipse">
            <a:avLst/>
          </a:prstGeom>
          <a:solidFill>
            <a:srgbClr val="8C6E93"/>
          </a:solidFill>
        </p:spPr>
      </p:sp>
      <p:sp>
        <p:nvSpPr>
          <p:cNvPr id="21" name="Text 18"/>
          <p:cNvSpPr/>
          <p:nvPr/>
        </p:nvSpPr>
        <p:spPr>
          <a:xfrm>
            <a:off x="8421624" y="2556662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 — Income &amp; Frequency vs Services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421624" y="2895283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Income/frequency related to service uptake.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7818120" y="3394253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64424" y="3823106"/>
            <a:ext cx="78377" cy="131674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25" name="Shape 22"/>
          <p:cNvSpPr/>
          <p:nvPr/>
        </p:nvSpPr>
        <p:spPr>
          <a:xfrm>
            <a:off x="8097665" y="3740810"/>
            <a:ext cx="78377" cy="213970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26" name="Shape 23"/>
          <p:cNvSpPr/>
          <p:nvPr/>
        </p:nvSpPr>
        <p:spPr>
          <a:xfrm>
            <a:off x="8230906" y="3658514"/>
            <a:ext cx="78377" cy="296266"/>
          </a:xfrm>
          <a:prstGeom prst="rect">
            <a:avLst/>
          </a:prstGeom>
          <a:solidFill>
            <a:srgbClr val="D4A94A"/>
          </a:solidFill>
        </p:spPr>
      </p:sp>
      <p:sp>
        <p:nvSpPr>
          <p:cNvPr id="27" name="Text 24"/>
          <p:cNvSpPr/>
          <p:nvPr/>
        </p:nvSpPr>
        <p:spPr>
          <a:xfrm>
            <a:off x="8421624" y="3467405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— Cases by Education &amp; Services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421624" y="3806025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usage across education levels.</a:t>
            </a:r>
            <a:endParaRPr lang="en-US" sz="870" dirty="0"/>
          </a:p>
        </p:txBody>
      </p:sp>
      <p:sp>
        <p:nvSpPr>
          <p:cNvPr id="29" name="Shape 26"/>
          <p:cNvSpPr/>
          <p:nvPr/>
        </p:nvSpPr>
        <p:spPr>
          <a:xfrm>
            <a:off x="7818120" y="4304995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964424" y="4536338"/>
            <a:ext cx="329184" cy="52669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31" name="Shape 28"/>
          <p:cNvSpPr/>
          <p:nvPr/>
        </p:nvSpPr>
        <p:spPr>
          <a:xfrm>
            <a:off x="8022031" y="4635094"/>
            <a:ext cx="213970" cy="52669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32" name="Shape 29"/>
          <p:cNvSpPr/>
          <p:nvPr/>
        </p:nvSpPr>
        <p:spPr>
          <a:xfrm>
            <a:off x="8076347" y="4733849"/>
            <a:ext cx="105339" cy="52669"/>
          </a:xfrm>
          <a:prstGeom prst="rect">
            <a:avLst/>
          </a:prstGeom>
          <a:solidFill>
            <a:srgbClr val="3D2645"/>
          </a:solidFill>
        </p:spPr>
      </p:sp>
      <p:sp>
        <p:nvSpPr>
          <p:cNvPr id="33" name="Text 30"/>
          <p:cNvSpPr/>
          <p:nvPr/>
        </p:nvSpPr>
        <p:spPr>
          <a:xfrm>
            <a:off x="8421624" y="4378147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 — Support Services Used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421624" y="4716768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 the whole page.</a:t>
            </a:r>
            <a:endParaRPr lang="en-US" sz="870" dirty="0"/>
          </a:p>
        </p:txBody>
      </p:sp>
      <p:sp>
        <p:nvSpPr>
          <p:cNvPr id="35" name="Shape 32"/>
          <p:cNvSpPr/>
          <p:nvPr/>
        </p:nvSpPr>
        <p:spPr>
          <a:xfrm>
            <a:off x="7818120" y="5215738"/>
            <a:ext cx="3913632" cy="791870"/>
          </a:xfrm>
          <a:prstGeom prst="roundRect">
            <a:avLst>
              <a:gd name="adj" fmla="val 5774"/>
            </a:avLst>
          </a:prstGeom>
          <a:solidFill>
            <a:srgbClr val="FFFFFF"/>
          </a:solidFill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964424" y="5447081"/>
            <a:ext cx="329184" cy="329184"/>
          </a:xfrm>
          <a:prstGeom prst="ellipse">
            <a:avLst/>
          </a:prstGeom>
          <a:solidFill>
            <a:srgbClr val="8C6E93"/>
          </a:solidFill>
        </p:spPr>
      </p:sp>
      <p:sp>
        <p:nvSpPr>
          <p:cNvPr id="37" name="Shape 34"/>
          <p:cNvSpPr/>
          <p:nvPr/>
        </p:nvSpPr>
        <p:spPr>
          <a:xfrm>
            <a:off x="8046720" y="5529377"/>
            <a:ext cx="164592" cy="164592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8" name="Text 35"/>
          <p:cNvSpPr/>
          <p:nvPr/>
        </p:nvSpPr>
        <p:spPr>
          <a:xfrm>
            <a:off x="8421624" y="5288890"/>
            <a:ext cx="3163824" cy="3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Gauge — Services Used Indicator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421624" y="5627510"/>
            <a:ext cx="3163824" cy="364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gauge, 1,200 of 2,400 services used.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5 of 5 — Support Service Utilization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Domestic Violence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2A1A31"/>
          </a:solidFill>
        </p:spPr>
      </p:sp>
      <p:sp>
        <p:nvSpPr>
          <p:cNvPr id="3" name="Shape 1"/>
          <p:cNvSpPr/>
          <p:nvPr/>
        </p:nvSpPr>
        <p:spPr>
          <a:xfrm>
            <a:off x="10241280" y="4389120"/>
            <a:ext cx="3474720" cy="3474720"/>
          </a:xfrm>
          <a:prstGeom prst="ellipse">
            <a:avLst/>
          </a:prstGeom>
          <a:solidFill>
            <a:srgbClr val="2A1A31"/>
          </a:solidFill>
        </p:spPr>
      </p:sp>
      <p:sp>
        <p:nvSpPr>
          <p:cNvPr id="4" name="Text 2"/>
          <p:cNvSpPr/>
          <p:nvPr/>
        </p:nvSpPr>
        <p:spPr>
          <a:xfrm>
            <a:off x="822960" y="6858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 Structure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8C6E93"/>
          </a:solidFill>
        </p:spPr>
      </p:sp>
      <p:sp>
        <p:nvSpPr>
          <p:cNvPr id="6" name="Text 4"/>
          <p:cNvSpPr/>
          <p:nvPr/>
        </p:nvSpPr>
        <p:spPr>
          <a:xfrm>
            <a:off x="822960" y="1920240"/>
            <a:ext cx="20848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Demographics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07792" y="2395728"/>
            <a:ext cx="164592" cy="0"/>
          </a:xfrm>
          <a:prstGeom prst="line">
            <a:avLst/>
          </a:prstGeom>
          <a:noFill/>
          <a:ln w="25400">
            <a:solidFill>
              <a:srgbClr val="C9BE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72384" y="192024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D4A94A"/>
          </a:solidFill>
        </p:spPr>
      </p:sp>
      <p:sp>
        <p:nvSpPr>
          <p:cNvPr id="9" name="Text 7"/>
          <p:cNvSpPr/>
          <p:nvPr/>
        </p:nvSpPr>
        <p:spPr>
          <a:xfrm>
            <a:off x="3072384" y="1920240"/>
            <a:ext cx="20848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Violence Types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57216" y="2395728"/>
            <a:ext cx="164592" cy="0"/>
          </a:xfrm>
          <a:prstGeom prst="line">
            <a:avLst/>
          </a:prstGeom>
          <a:noFill/>
          <a:ln w="25400">
            <a:solidFill>
              <a:srgbClr val="C9BE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21808" y="192024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8C6E93"/>
          </a:solidFill>
        </p:spPr>
      </p:sp>
      <p:sp>
        <p:nvSpPr>
          <p:cNvPr id="12" name="Text 10"/>
          <p:cNvSpPr/>
          <p:nvPr/>
        </p:nvSpPr>
        <p:spPr>
          <a:xfrm>
            <a:off x="5321808" y="1920240"/>
            <a:ext cx="20848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2395728"/>
            <a:ext cx="164592" cy="0"/>
          </a:xfrm>
          <a:prstGeom prst="line">
            <a:avLst/>
          </a:prstGeom>
          <a:noFill/>
          <a:ln w="25400">
            <a:solidFill>
              <a:srgbClr val="C9BE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71232" y="192024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D4A94A"/>
          </a:solidFill>
        </p:spPr>
      </p:sp>
      <p:sp>
        <p:nvSpPr>
          <p:cNvPr id="15" name="Text 13"/>
          <p:cNvSpPr/>
          <p:nvPr/>
        </p:nvSpPr>
        <p:spPr>
          <a:xfrm>
            <a:off x="7571232" y="1920240"/>
            <a:ext cx="20848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Perpetrators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56064" y="2395728"/>
            <a:ext cx="164592" cy="0"/>
          </a:xfrm>
          <a:prstGeom prst="line">
            <a:avLst/>
          </a:prstGeom>
          <a:noFill/>
          <a:ln w="25400">
            <a:solidFill>
              <a:srgbClr val="C9BE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20656" y="192024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8C6E93"/>
          </a:solidFill>
        </p:spPr>
      </p:sp>
      <p:sp>
        <p:nvSpPr>
          <p:cNvPr id="18" name="Text 16"/>
          <p:cNvSpPr/>
          <p:nvPr/>
        </p:nvSpPr>
        <p:spPr>
          <a:xfrm>
            <a:off x="9820656" y="1920240"/>
            <a:ext cx="20848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A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Services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329184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BY. Pranav(BSc IT) 2402020015 </a:t>
            </a:r>
            <a:endParaRPr lang="en-US" sz="15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6634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9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E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.pbix in Power BI Desktop to explore each page interactively.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5166</Words>
  <Application>WPS Presentation</Application>
  <PresentationFormat>On-screen Show (16:9)</PresentationFormat>
  <Paragraphs>311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Domestic Violence Data Dashboard - Report Walkthrough</dc:title>
  <dc:creator>Power BI Report Walkthrough</dc:creator>
  <dc:subject>PptxGenJS Presentation</dc:subject>
  <cp:lastModifiedBy>Pranav Kumar</cp:lastModifiedBy>
  <cp:revision>2</cp:revision>
  <dcterms:created xsi:type="dcterms:W3CDTF">2026-07-01T06:04:00Z</dcterms:created>
  <dcterms:modified xsi:type="dcterms:W3CDTF">2026-07-01T07:50:47Z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1F354391E447408BBA5BBC7D496101BE_12</vt:lpwstr>
  </property>
  <property fmtid="{D5CDD505-2E9C-101B-9397-08002B2CF9AE}" pid="3" name="KSOProductBuildVer">
    <vt:lpwstr>1033-12.1.0.26880</vt:lpwstr>
  </property>
</Properties>
</file>